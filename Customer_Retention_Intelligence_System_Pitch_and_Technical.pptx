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9" dt="2026-09-14T11:39:31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84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41080" y="1188720"/>
            <a:ext cx="384048" cy="384048"/>
          </a:xfrm>
          <a:prstGeom prst="ellipse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2286000"/>
            <a:ext cx="384048" cy="384048"/>
          </a:xfrm>
          <a:prstGeom prst="ellipse">
            <a:avLst/>
          </a:prstGeom>
          <a:solidFill>
            <a:srgbClr val="49B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0" y="3886200"/>
            <a:ext cx="384048" cy="384048"/>
          </a:xfrm>
          <a:prstGeom prst="ellipse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4754880"/>
            <a:ext cx="384048" cy="384048"/>
          </a:xfrm>
          <a:prstGeom prst="ellipse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0" y="5577840"/>
            <a:ext cx="384048" cy="384048"/>
          </a:xfrm>
          <a:prstGeom prst="ellipse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51560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9BCC2"/>
                </a:solidFill>
                <a:latin typeface="Aptos"/>
              </a:rPr>
              <a:t>CUSTOMER INTELLIGENCE • RETENTION •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7132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Customer Retention
Intelligence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46120"/>
            <a:ext cx="6492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AE4F0"/>
                </a:solidFill>
                <a:latin typeface="Aptos"/>
              </a:rPr>
              <a:t>From raw customer data to actionable churn risk — with analytics, APIs, a dashboard and machine learning.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154680"/>
            <a:ext cx="566928" cy="475488"/>
          </a:xfrm>
          <a:prstGeom prst="roundRect">
            <a:avLst/>
          </a:prstGeom>
          <a:solidFill>
            <a:srgbClr val="122B4C"/>
          </a:solidFill>
          <a:ln w="13970">
            <a:solidFill>
              <a:srgbClr val="18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8472" y="3227832"/>
            <a:ext cx="42062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22B4C"/>
                </a:solidFill>
                <a:latin typeface="Aptos"/>
              </a:rPr>
              <a:t>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42248" y="3392424"/>
            <a:ext cx="137160" cy="0"/>
          </a:xfrm>
          <a:prstGeom prst="line">
            <a:avLst/>
          </a:prstGeom>
          <a:ln w="16510">
            <a:solidFill>
              <a:srgbClr val="49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79408" y="3154680"/>
            <a:ext cx="566928" cy="475488"/>
          </a:xfrm>
          <a:prstGeom prst="roundRect">
            <a:avLst/>
          </a:prstGeom>
          <a:solidFill>
            <a:srgbClr val="122B4C"/>
          </a:solidFill>
          <a:ln w="13970"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3227832"/>
            <a:ext cx="42062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22B4C"/>
                </a:solidFill>
                <a:latin typeface="Aptos"/>
              </a:rPr>
              <a:t>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46336" y="3392424"/>
            <a:ext cx="137160" cy="0"/>
          </a:xfrm>
          <a:prstGeom prst="line">
            <a:avLst/>
          </a:prstGeom>
          <a:ln w="16510">
            <a:solidFill>
              <a:srgbClr val="49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83496" y="3154680"/>
            <a:ext cx="566928" cy="475488"/>
          </a:xfrm>
          <a:prstGeom prst="roundRect">
            <a:avLst/>
          </a:prstGeom>
          <a:solidFill>
            <a:srgbClr val="122B4C"/>
          </a:solidFill>
          <a:ln w="13970">
            <a:solidFill>
              <a:srgbClr val="6F5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56648" y="3227832"/>
            <a:ext cx="42062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22B4C"/>
                </a:solidFill>
                <a:latin typeface="Aptos"/>
              </a:rPr>
              <a:t>API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250424" y="3392424"/>
            <a:ext cx="137160" cy="0"/>
          </a:xfrm>
          <a:prstGeom prst="line">
            <a:avLst/>
          </a:prstGeom>
          <a:ln w="16510">
            <a:solidFill>
              <a:srgbClr val="49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387584" y="3154680"/>
            <a:ext cx="566928" cy="475488"/>
          </a:xfrm>
          <a:prstGeom prst="roundRect">
            <a:avLst/>
          </a:prstGeom>
          <a:solidFill>
            <a:srgbClr val="122B4C"/>
          </a:solidFill>
          <a:ln w="13970">
            <a:solidFill>
              <a:srgbClr val="49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60736" y="3227832"/>
            <a:ext cx="42062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22B4C"/>
                </a:solidFill>
                <a:latin typeface="Aptos"/>
              </a:rPr>
              <a:t>UI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954511" y="3392424"/>
            <a:ext cx="137161" cy="0"/>
          </a:xfrm>
          <a:prstGeom prst="line">
            <a:avLst/>
          </a:prstGeom>
          <a:ln w="16510">
            <a:solidFill>
              <a:srgbClr val="49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091672" y="3154680"/>
            <a:ext cx="566928" cy="475488"/>
          </a:xfrm>
          <a:prstGeom prst="roundRect">
            <a:avLst/>
          </a:prstGeom>
          <a:solidFill>
            <a:srgbClr val="122B4C"/>
          </a:solidFill>
          <a:ln w="13970">
            <a:solidFill>
              <a:srgbClr val="E8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64824" y="3227832"/>
            <a:ext cx="42062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22B4C"/>
                </a:solidFill>
                <a:latin typeface="Aptos"/>
              </a:rPr>
              <a:t>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064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B4C6DA"/>
                </a:solidFill>
                <a:latin typeface="Aptos"/>
              </a:rPr>
              <a:t>Prepared from the supplied project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Executive Story: 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A retention workflow that turns customer data into prioritized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2A69B4"/>
                </a:solidFill>
                <a:latin typeface="Aptos"/>
              </a:rPr>
              <a:t>7,043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customers in the reference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96596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79" y="213055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89497"/>
                </a:solidFill>
                <a:latin typeface="Aptos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7249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customer attributes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96596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213055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E88F2C"/>
                </a:solidFill>
                <a:latin typeface="Aptos"/>
              </a:rPr>
              <a:t>~26.5%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249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historical churned share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196596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213055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6F53A8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249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integrated retention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874519"/>
            <a:ext cx="2148840" cy="283464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72600" y="1874519"/>
            <a:ext cx="68580" cy="2834640"/>
          </a:xfrm>
          <a:prstGeom prst="rect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73768" y="203911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Business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450591"/>
            <a:ext cx="1783080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Give retention teams a single place to understand customers, identify high-risk segments, and act earlier.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88620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Move from reactive churn reporting to proactive risk identification.</a:t>
            </a:r>
          </a:p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Combine descriptive analytics, explainable rules and ML-based scoring.</a:t>
            </a:r>
          </a:p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Expose insights through APIs so the dashboard and downstream consumers use the same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Retention teams often have data, but not a connected decision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2120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68580" cy="150876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3911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Customer data is fragmented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50591"/>
            <a:ext cx="484632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2F3D"/>
                </a:solidFill>
                <a:latin typeface="Aptos"/>
              </a:rPr>
              <a:t>Profile, services, contract and billing attributes must be brought together before risk can be understood.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74519"/>
            <a:ext cx="52120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68580" cy="150876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203911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Risk is hard to prioritize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50591"/>
            <a:ext cx="484632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2F3D"/>
                </a:solidFill>
                <a:latin typeface="Aptos"/>
              </a:rPr>
              <a:t>A retention team needs a ranked, actionable list — not just an overall churn percentage.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749039"/>
            <a:ext cx="68580" cy="150876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913631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Insights need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325112"/>
            <a:ext cx="484632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2F3D"/>
                </a:solidFill>
                <a:latin typeface="Aptos"/>
              </a:rPr>
              <a:t>A score is more useful when the team can see the customer profile and why the customer is considered risky.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49039"/>
            <a:ext cx="52120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749039"/>
            <a:ext cx="68580" cy="150876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913631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Analysis must become repeatable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325112"/>
            <a:ext cx="484632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2F3D"/>
                </a:solidFill>
                <a:latin typeface="Aptos"/>
              </a:rPr>
              <a:t>Daily/recurring data needs validation, cleaning, feature generation and scoring without manual rework.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2B4C"/>
                </a:solidFill>
                <a:latin typeface="Aptos"/>
              </a:rPr>
              <a:t>Core idea: connect data → intelligence →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A layered Customer Retention Intelligence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40280"/>
            <a:ext cx="182880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2313432"/>
            <a:ext cx="16824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2B4C"/>
                </a:solidFill>
                <a:latin typeface="Aptos"/>
              </a:rPr>
              <a:t>1
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456432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Validate incoming customer extract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41448" y="2779776"/>
            <a:ext cx="420624" cy="0"/>
          </a:xfrm>
          <a:prstGeom prst="line">
            <a:avLst/>
          </a:prstGeom>
          <a:ln w="2540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98648" y="2240280"/>
            <a:ext cx="182880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2313432"/>
            <a:ext cx="16824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2B4C"/>
                </a:solidFill>
                <a:latin typeface="Aptos"/>
              </a:rPr>
              <a:t>2
Clean &amp; Curate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56432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Standardize and load trusted 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45736" y="2779776"/>
            <a:ext cx="420624" cy="0"/>
          </a:xfrm>
          <a:prstGeom prst="line">
            <a:avLst/>
          </a:prstGeom>
          <a:ln w="2540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02936" y="2240280"/>
            <a:ext cx="182880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76088" y="2313432"/>
            <a:ext cx="16824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2B4C"/>
                </a:solidFill>
                <a:latin typeface="Aptos"/>
              </a:rPr>
              <a:t>3
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3456432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KPIs, segments and high-risk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0024" y="2779776"/>
            <a:ext cx="420624" cy="0"/>
          </a:xfrm>
          <a:prstGeom prst="line">
            <a:avLst/>
          </a:prstGeom>
          <a:ln w="2540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07224" y="2240280"/>
            <a:ext cx="182880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0376" y="2313432"/>
            <a:ext cx="16824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2B4C"/>
                </a:solidFill>
                <a:latin typeface="Aptos"/>
              </a:rPr>
              <a:t>4
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456432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Train, interpret and score churn risk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54312" y="2779776"/>
            <a:ext cx="420624" cy="0"/>
          </a:xfrm>
          <a:prstGeom prst="line">
            <a:avLst/>
          </a:prstGeom>
          <a:ln w="2540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11512" y="2240280"/>
            <a:ext cx="182880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9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84664" y="2313432"/>
            <a:ext cx="16824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2B4C"/>
                </a:solidFill>
                <a:latin typeface="Aptos"/>
              </a:rPr>
              <a:t>5
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456432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Dashboard + APIs for retention teams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709160"/>
            <a:ext cx="3337560" cy="100584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4709160"/>
            <a:ext cx="68580" cy="100584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" y="487375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Explainable first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528523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Rule-based high-risk view provides an immediate, transparent decision layer.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16552" y="4709160"/>
            <a:ext cx="3337560" cy="1005840"/>
          </a:xfrm>
          <a:prstGeom prst="roundRect">
            <a:avLst/>
          </a:prstGeom>
          <a:solidFill>
            <a:srgbClr val="FCF1E1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16552" y="4709160"/>
            <a:ext cx="68580" cy="100584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17720" y="487375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ML when ready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28523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ML scoring adds probability-based prioritization and captures patterns beyond fixed rules.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709160"/>
            <a:ext cx="3337560" cy="100584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38160" y="4709160"/>
            <a:ext cx="68580" cy="100584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39328" y="487375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One serving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528523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APIs expose customer profiles, summaries, features and risk lists to the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What the Retention Team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A simple user journey from overview to individual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874519"/>
            <a:ext cx="566928" cy="566928"/>
          </a:xfrm>
          <a:prstGeom prst="ellipse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892807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5623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See the churn picture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56231"/>
            <a:ext cx="6492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Executive KPIs and churn breakdowns by contract and internet service.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834639"/>
            <a:ext cx="566928" cy="566928"/>
          </a:xfrm>
          <a:prstGeom prst="ellipse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852927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163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Search a 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16351"/>
            <a:ext cx="6492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Look up a customer profile during a support or retention conversation.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794760"/>
            <a:ext cx="566928" cy="566928"/>
          </a:xfrm>
          <a:prstGeom prst="ellipse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764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Prioritize outreach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76472"/>
            <a:ext cx="6492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Review a high-risk list with tenure, charges, contract and risk reason.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754880"/>
            <a:ext cx="566928" cy="566928"/>
          </a:xfrm>
          <a:prstGeom prst="ellipse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773168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365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Estimate individual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36592"/>
            <a:ext cx="6492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Submit customer attributes and receive a churn risk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Reference Data &amp; Business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The supplied guide uses the IBM/Telco churn dataset as the common 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949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68580" cy="141732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3911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4C"/>
                </a:solidFill>
                <a:latin typeface="Aptos"/>
              </a:rPr>
              <a:t>Dataset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50591"/>
            <a:ext cx="50292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7,043 customer snapshots • 21 columns • approximately 1 MB CSV • ~73.5% active / ~26.5% churned.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40"/>
            <a:ext cx="53949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520440"/>
            <a:ext cx="68580" cy="141732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68503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4C"/>
                </a:solidFill>
                <a:latin typeface="Aptos"/>
              </a:rPr>
              <a:t>Important data quality issue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96512"/>
            <a:ext cx="50292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TotalCharges arrives as text with about 11 blank values for tenure=0 customers; the pipeline converts and fills these appropriately.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74519"/>
            <a:ext cx="52120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874519"/>
            <a:ext cx="68580" cy="141732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203911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4C"/>
                </a:solidFill>
                <a:latin typeface="Aptos"/>
              </a:rPr>
              <a:t>High-signal segmentation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450591"/>
            <a:ext cx="48463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Contract, internet service, payment method, tenure and monthly charges are used to understand churn patterns.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520440"/>
            <a:ext cx="52120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520440"/>
            <a:ext cx="68580" cy="141732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68503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4C"/>
                </a:solidFill>
                <a:latin typeface="Aptos"/>
              </a:rPr>
              <a:t>Reference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096512"/>
            <a:ext cx="48463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The guide expects month-to-month customers — particularly the month-to-month + fiber optic segment — to be among the highest-risk segments.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27081"/>
                </a:solidFill>
                <a:latin typeface="Aptos"/>
              </a:rPr>
              <a:t>Note: these are reference-dataset findings/expectations from the supplied guide, not claims about a live telecom population.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Frontend Experience —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246120" cy="123444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965960"/>
            <a:ext cx="68580" cy="123444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213055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Expected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54203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Total customers • churned • churn rate • breakdowns by contract and internet service.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429000"/>
            <a:ext cx="3246120" cy="123444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3429000"/>
            <a:ext cx="68580" cy="123444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359359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API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400507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GET /churn/summary returns the structured KPI payload consumed by the React page.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892040"/>
            <a:ext cx="3246120" cy="914400"/>
          </a:xfrm>
          <a:prstGeom prst="roundRect">
            <a:avLst/>
          </a:prstGeom>
          <a:solidFill>
            <a:srgbClr val="FCF1E1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20" y="4892040"/>
            <a:ext cx="68580" cy="91440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76488" y="5056631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Presentation tip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5468112"/>
            <a:ext cx="28803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Replace this placeholder with your strongest dashboard screenshot.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5D8285-0C1C-E230-FDF8-A74F68CC1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67" y="1635760"/>
            <a:ext cx="5993947" cy="473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Frontend Experience — Customer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246120" cy="123444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965960"/>
            <a:ext cx="68580" cy="123444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213055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User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54203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Enter customer ID and search for a profile.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429000"/>
            <a:ext cx="3246120" cy="123444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3429000"/>
            <a:ext cx="68580" cy="123444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359359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Profile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400507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Tenure, contract, internet service, monthly charges and churn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892040"/>
            <a:ext cx="3246120" cy="914400"/>
          </a:xfrm>
          <a:prstGeom prst="roundRect">
            <a:avLst/>
          </a:prstGeom>
          <a:solidFill>
            <a:srgbClr val="EFEAF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20" y="4892040"/>
            <a:ext cx="68580" cy="91440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76488" y="5056631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API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5468112"/>
            <a:ext cx="28803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GET /customer/{customer_id}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72FFAFA-EF1A-0043-00C1-24333EBF2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2018348"/>
            <a:ext cx="6442075" cy="3664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Frontend Experience — High-Risk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246120" cy="1234440"/>
          </a:xfrm>
          <a:prstGeom prst="roundRect">
            <a:avLst/>
          </a:prstGeom>
          <a:solidFill>
            <a:srgbClr val="FAE8E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965960"/>
            <a:ext cx="68580" cy="1234440"/>
          </a:xfrm>
          <a:prstGeom prst="rect">
            <a:avLst/>
          </a:prstGeom>
          <a:solidFill>
            <a:srgbClr val="CD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213055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Actionable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54203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Customer ID, tenure, monthly charges, contract type and risk reason.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429000"/>
            <a:ext cx="3246120" cy="123444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3429000"/>
            <a:ext cx="68580" cy="123444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359359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Interaction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400507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Load more + tenure sorting + empty-state handling.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892040"/>
            <a:ext cx="3246120" cy="91440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20" y="4892040"/>
            <a:ext cx="68580" cy="91440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76488" y="5056631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API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5468112"/>
            <a:ext cx="28803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GET /customers/high-risk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F6357DD-6209-6026-0F51-D7ED1383A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06" y="1645920"/>
            <a:ext cx="6056668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Frontend Experience — Churn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246120" cy="1234440"/>
          </a:xfrm>
          <a:prstGeom prst="roundRect">
            <a:avLst/>
          </a:prstGeom>
          <a:solidFill>
            <a:srgbClr val="FCF1E1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965960"/>
            <a:ext cx="68580" cy="123444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213055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54203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Tenure, monthly charges, contract type and service count.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429000"/>
            <a:ext cx="3246120" cy="1234440"/>
          </a:xfrm>
          <a:prstGeom prst="roundRect">
            <a:avLst/>
          </a:prstGeom>
          <a:solidFill>
            <a:srgbClr val="EFEAF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3429000"/>
            <a:ext cx="68580" cy="123444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359359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400507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Risk score + prediction; designed to work with the real ML model after the API stub.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892040"/>
            <a:ext cx="3246120" cy="91440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20" y="4892040"/>
            <a:ext cx="68580" cy="91440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76488" y="5056631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API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5468112"/>
            <a:ext cx="28803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POST /predict-churn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8067AEE-42B4-C975-9D4F-98C8FD72B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68" y="1737360"/>
            <a:ext cx="5991545" cy="4612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Layered design separates ingestion, data, intelligence, serving and presentation.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0835640" cy="713232"/>
          </a:xfrm>
          <a:prstGeom prst="roundRect">
            <a:avLst/>
          </a:prstGeom>
          <a:solidFill>
            <a:srgbClr val="E4F6F5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020824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9BCC2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993391"/>
            <a:ext cx="8732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2B4C"/>
                </a:solidFill>
                <a:latin typeface="Aptos"/>
              </a:rPr>
              <a:t>React • dashboard • customer search • high-risk list • prediction 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10835640" cy="713232"/>
          </a:xfrm>
          <a:prstGeom prst="roundRect">
            <a:avLst/>
          </a:prstGeom>
          <a:solidFill>
            <a:srgbClr val="E5EF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871216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69B4"/>
                </a:solidFill>
                <a:latin typeface="Aptos"/>
              </a:rPr>
              <a:t>API /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843784"/>
            <a:ext cx="8732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2B4C"/>
                </a:solidFill>
                <a:latin typeface="Aptos"/>
              </a:rPr>
              <a:t>FastAPI • Pydantic validation • service layer • SQLAlchemy • error handling • API key stub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75304"/>
            <a:ext cx="10835640" cy="713232"/>
          </a:xfrm>
          <a:prstGeom prst="roundRect">
            <a:avLst/>
          </a:prstGeom>
          <a:solidFill>
            <a:srgbClr val="E4F6F5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721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9497"/>
                </a:solidFill>
                <a:latin typeface="Aptos"/>
              </a:rPr>
              <a:t>DATA /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694176"/>
            <a:ext cx="8732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2B4C"/>
                </a:solidFill>
                <a:latin typeface="Aptos"/>
              </a:rPr>
              <a:t>Staging table → curated tables → ML feature table → customer risk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25696"/>
            <a:ext cx="10835640" cy="713232"/>
          </a:xfrm>
          <a:prstGeom prst="roundRect">
            <a:avLst/>
          </a:prstGeom>
          <a:solidFill>
            <a:srgbClr val="EFEAF8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457200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53A8"/>
                </a:solidFill>
                <a:latin typeface="Aptos"/>
              </a:rPr>
              <a:t>DATA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4544568"/>
            <a:ext cx="8732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2B4C"/>
                </a:solidFill>
                <a:latin typeface="Aptos"/>
              </a:rPr>
              <a:t>Schema validation • cleaning • feature build • incremental upsert • quality gates • Airflow orchestration • PySpark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76088"/>
            <a:ext cx="10835640" cy="713232"/>
          </a:xfrm>
          <a:prstGeom prst="roundRect">
            <a:avLst/>
          </a:prstGeom>
          <a:solidFill>
            <a:srgbClr val="FCF1E1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542239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88F2C"/>
                </a:solidFill>
                <a:latin typeface="Aptos"/>
              </a:rPr>
              <a:t>MACHINE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394959"/>
            <a:ext cx="8732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2B4C"/>
                </a:solidFill>
                <a:latin typeface="Aptos"/>
              </a:rPr>
              <a:t>Feature matrix → Logistic Regression / Decision Tree → interpretation → prediction → batch scoring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Data Engineering &amp; Quality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The pipeline is designed to be repeatable, auditable and safe for downstream ML.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Landing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Incoming CSV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09344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56232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9384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21-column schema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54096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00984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74136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Stage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0984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stg_customer_raw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98848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45736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9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18888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CustomerCleaner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0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90488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Curate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Trusted tables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88352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635240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08392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6 engineered features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33104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079992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53144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Quality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9992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PASS / FAIL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277856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524744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97896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4744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Risk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3977639"/>
            <a:ext cx="3474720" cy="132588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4360" y="3977639"/>
            <a:ext cx="68580" cy="132588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5528" y="4142231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Idempotency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455371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Upsert logic handles new, updated and unchanged customers without duplicate creation.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3977639"/>
            <a:ext cx="3474720" cy="1325880"/>
          </a:xfrm>
          <a:prstGeom prst="roundRect">
            <a:avLst/>
          </a:prstGeom>
          <a:solidFill>
            <a:srgbClr val="FAE8E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43400" y="3977639"/>
            <a:ext cx="68580" cy="1325880"/>
          </a:xfrm>
          <a:prstGeom prst="rect">
            <a:avLst/>
          </a:prstGeom>
          <a:solidFill>
            <a:srgbClr val="CD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4568" y="4142231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Data quality as code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44568" y="455371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Null, range, allowed-value, row-count and duplicate checks create a JSON quality report.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3977639"/>
            <a:ext cx="3474720" cy="1325880"/>
          </a:xfrm>
          <a:prstGeom prst="roundRect">
            <a:avLst/>
          </a:prstGeom>
          <a:solidFill>
            <a:srgbClr val="EFEAF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3977639"/>
            <a:ext cx="68580" cy="132588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93608" y="4142231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Orchestration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3608" y="455371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Airflow is used to turn the standalone pipeline stages into an automated 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Data Model &amp; API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A curated relational model becomes the stable serving contract for the application.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965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1993392"/>
            <a:ext cx="181965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identity +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920240"/>
            <a:ext cx="1965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07792" y="1993392"/>
            <a:ext cx="181965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dim_contract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88036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contract dimension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920240"/>
            <a:ext cx="1965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02352" y="1993392"/>
            <a:ext cx="181965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dim_payment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88036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payment dimension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920240"/>
            <a:ext cx="1965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96912" y="1993392"/>
            <a:ext cx="181965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fact_customer_account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88036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tenure + charges + churn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1920240"/>
            <a:ext cx="20574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91472" y="1993392"/>
            <a:ext cx="191109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customer_ml_features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88036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ML-ready feature 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57600"/>
            <a:ext cx="3337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657600"/>
            <a:ext cx="68580" cy="749808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3822191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B4C"/>
                </a:solidFill>
                <a:latin typeface="Aptos"/>
              </a:rPr>
              <a:t>GET /customer/{id}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233672"/>
            <a:ext cx="297180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242F3D"/>
                </a:solidFill>
                <a:latin typeface="Aptos"/>
              </a:rPr>
              <a:t>Customer profile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657600"/>
            <a:ext cx="3337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43400" y="3657600"/>
            <a:ext cx="68580" cy="749808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44568" y="3822191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B4C"/>
                </a:solidFill>
                <a:latin typeface="Aptos"/>
              </a:rPr>
              <a:t>GET /churn/summary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4233672"/>
            <a:ext cx="297180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242F3D"/>
                </a:solidFill>
                <a:latin typeface="Aptos"/>
              </a:rPr>
              <a:t>Executive KPIs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657600"/>
            <a:ext cx="3337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46719" y="3657600"/>
            <a:ext cx="68580" cy="749808"/>
          </a:xfrm>
          <a:prstGeom prst="rect">
            <a:avLst/>
          </a:prstGeom>
          <a:solidFill>
            <a:srgbClr val="CD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47888" y="3822191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B4C"/>
                </a:solidFill>
                <a:latin typeface="Aptos"/>
              </a:rPr>
              <a:t>GET /customers/high-risk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233672"/>
            <a:ext cx="297180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242F3D"/>
                </a:solidFill>
                <a:latin typeface="Aptos"/>
              </a:rPr>
              <a:t>Rule-based priority list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617720"/>
            <a:ext cx="3337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4617720"/>
            <a:ext cx="68580" cy="749808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7" y="47823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B4C"/>
                </a:solidFill>
                <a:latin typeface="Aptos"/>
              </a:rPr>
              <a:t>GET /customer/{id}/features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5193792"/>
            <a:ext cx="297180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242F3D"/>
                </a:solidFill>
                <a:latin typeface="Aptos"/>
              </a:rPr>
              <a:t>ML feature vector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617720"/>
            <a:ext cx="3337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43400" y="4617720"/>
            <a:ext cx="68580" cy="749808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44568" y="47823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B4C"/>
                </a:solidFill>
                <a:latin typeface="Aptos"/>
              </a:rPr>
              <a:t>POST /predict-churn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44568" y="5193792"/>
            <a:ext cx="297180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242F3D"/>
                </a:solidFill>
                <a:latin typeface="Aptos"/>
              </a:rPr>
              <a:t>Prediction contract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Machine Learning: From Baseline to Batch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The ML layer is built for both prediction and explainability.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205740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68580" cy="342900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0391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Feature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50591"/>
            <a:ext cx="1691640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tenure_bucket
high_charge_flag
service_count
is_long_term_customer
has_streaming_bundle
auto_pay_flag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87752" y="3584448"/>
            <a:ext cx="182880" cy="0"/>
          </a:xfrm>
          <a:prstGeom prst="line">
            <a:avLst/>
          </a:prstGeom>
          <a:ln w="190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16352" y="1874519"/>
            <a:ext cx="205740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16352" y="1874519"/>
            <a:ext cx="68580" cy="342900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17520" y="20391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Model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450591"/>
            <a:ext cx="1691640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Logistic Regression
vs
Decision Tree
Select using churn-class F1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01183" y="3584448"/>
            <a:ext cx="182881" cy="0"/>
          </a:xfrm>
          <a:prstGeom prst="line">
            <a:avLst/>
          </a:prstGeom>
          <a:ln w="190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9783" y="1874519"/>
            <a:ext cx="205740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9783" y="1874519"/>
            <a:ext cx="68580" cy="342900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30951" y="20391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Interpretability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1" y="2450591"/>
            <a:ext cx="1691640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Coefficients / feature importance
+ top-risk customers
+ comparison with SQL rules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14615" y="3584448"/>
            <a:ext cx="182881" cy="0"/>
          </a:xfrm>
          <a:prstGeom prst="line">
            <a:avLst/>
          </a:prstGeom>
          <a:ln w="190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43216" y="1874519"/>
            <a:ext cx="205740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43216" y="1874519"/>
            <a:ext cx="68580" cy="342900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44384" y="20391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Prediction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4" y="2450591"/>
            <a:ext cx="1691640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Load selected model
and return risk score
+ prediction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28048" y="3584448"/>
            <a:ext cx="182880" cy="0"/>
          </a:xfrm>
          <a:prstGeom prst="line">
            <a:avLst/>
          </a:prstGeom>
          <a:ln w="190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756648" y="1874519"/>
            <a:ext cx="205740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756648" y="1874519"/>
            <a:ext cx="68580" cy="3429000"/>
          </a:xfrm>
          <a:prstGeom prst="rect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57816" y="20391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Batch scoring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6" y="2450591"/>
            <a:ext cx="1691640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Score all customers
→ customer_risk_table
→ dashboard / API / future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22B4C"/>
                </a:solidFill>
                <a:latin typeface="Aptos"/>
              </a:rPr>
              <a:t>Key design principle: a churn model is not the endpoint — the scored risk table is what makes predictions operational.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Explainability, Validation &amp; Operational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Trust is built into the workflow rather than added after deployment.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429000" cy="1417320"/>
          </a:xfrm>
          <a:prstGeom prst="roundRect">
            <a:avLst/>
          </a:prstGeom>
          <a:solidFill>
            <a:srgbClr val="EFEAF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68580" cy="141732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3911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50591"/>
            <a:ext cx="30632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Rule-based high-risk view includes a risk_reason. ML interpretation surfaces influential features and high-risk customers.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29000" cy="141732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68580" cy="141732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203911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50591"/>
            <a:ext cx="30632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Pydantic validates API payloads; database failures return consistent errors; data quality gates can stop the pipeline.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74519"/>
            <a:ext cx="3429000" cy="141732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874519"/>
            <a:ext cx="68580" cy="141732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203911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Auditability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450591"/>
            <a:ext cx="30632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Ingestion and pipeline logs capture status, counts, timestamps and reasons; quality reports are persisted as JSON.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5760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657600"/>
            <a:ext cx="68580" cy="1417320"/>
          </a:xfrm>
          <a:prstGeom prst="rect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822191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233672"/>
            <a:ext cx="30632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Logging is included across cleaning, pipeline stages and API routes, giving visibility into processing and requests.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657600"/>
            <a:ext cx="3429000" cy="1417320"/>
          </a:xfrm>
          <a:prstGeom prst="roundRect">
            <a:avLst/>
          </a:prstGeom>
          <a:solidFill>
            <a:srgbClr val="FCF1E1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657600"/>
            <a:ext cx="68580" cy="141732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0288" y="3822191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Security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233672"/>
            <a:ext cx="30632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The API phase adds an environment-based API key check and consistent 401 handling as a basic authentication layer.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657600"/>
            <a:ext cx="3429000" cy="1417320"/>
          </a:xfrm>
          <a:prstGeom prst="roundRect">
            <a:avLst/>
          </a:prstGeom>
          <a:solidFill>
            <a:srgbClr val="FAE8E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3657600"/>
            <a:ext cx="68580" cy="1417320"/>
          </a:xfrm>
          <a:prstGeom prst="rect">
            <a:avLst/>
          </a:prstGeom>
          <a:solidFill>
            <a:srgbClr val="CD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8" y="3822191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Failure behavior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4233672"/>
            <a:ext cx="30632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Critical quality failures raise errors and stop downstream processing instead of silently propagating bad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Practical components mapped to clear responsibilities.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68580" cy="132588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3911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50591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Cleaning, feature engineering, pipeline utilities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874519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56432" y="1874519"/>
            <a:ext cx="68580" cy="132588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203911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50591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Profiling, transformation and batch feature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874519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2784" y="1874519"/>
            <a:ext cx="68580" cy="132588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03911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SQL + SQLAlchemy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450591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Relational storage, queries, ORM and upserts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1874519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89136" y="1874519"/>
            <a:ext cx="68580" cy="132588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4" y="203911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FastAPI + Pydantic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450591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REST APIs, validation and service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566160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566160"/>
            <a:ext cx="68580" cy="1325880"/>
          </a:xfrm>
          <a:prstGeom prst="rect">
            <a:avLst/>
          </a:prstGeom>
          <a:solidFill>
            <a:srgbClr val="49B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373075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React + Axios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142232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Dashboard and API-consuming UI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6432" y="3566160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56432" y="3566160"/>
            <a:ext cx="68580" cy="132588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0" y="373075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Airflow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142232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Pipeline orchestration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2784" y="3566160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72784" y="3566160"/>
            <a:ext cx="68580" cy="1325880"/>
          </a:xfrm>
          <a:prstGeom prst="rect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373075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PySpark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4142232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Scalable DataFrame processing path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89136" y="3566160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89136" y="3566160"/>
            <a:ext cx="68580" cy="1325880"/>
          </a:xfrm>
          <a:prstGeom prst="rect">
            <a:avLst/>
          </a:prstGeom>
          <a:solidFill>
            <a:srgbClr val="CD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90304" y="373075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scikit-learn + joblib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4142232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Churn models, evaluation and model persistence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End-to-End Technical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How a customer record travels from source data to a business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20240"/>
            <a:ext cx="19659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993392"/>
            <a:ext cx="1819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2B4C"/>
                </a:solidFill>
                <a:latin typeface="Aptos"/>
              </a:rPr>
              <a:t>Customer 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081"/>
                </a:solidFill>
                <a:latin typeface="Aptos"/>
              </a:rPr>
              <a:t>CSV snapshot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920240"/>
            <a:ext cx="19659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3512" y="1993392"/>
            <a:ext cx="1819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2B4C"/>
                </a:solidFill>
                <a:latin typeface="Aptos"/>
              </a:rPr>
              <a:t>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8346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081"/>
                </a:solidFill>
                <a:latin typeface="Aptos"/>
              </a:rPr>
              <a:t>schema +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920240"/>
            <a:ext cx="19659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39512" y="1993392"/>
            <a:ext cx="1819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2B4C"/>
                </a:solidFill>
                <a:latin typeface="Aptos"/>
              </a:rPr>
              <a:t>Trusted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8346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081"/>
                </a:solidFill>
                <a:latin typeface="Aptos"/>
              </a:rPr>
              <a:t>curated 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920240"/>
            <a:ext cx="19659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25512" y="1993392"/>
            <a:ext cx="1819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2B4C"/>
                </a:solidFill>
                <a:latin typeface="Aptos"/>
              </a:rPr>
              <a:t>ML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8346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081"/>
                </a:solidFill>
                <a:latin typeface="Aptos"/>
              </a:rPr>
              <a:t>6 derived 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1920240"/>
            <a:ext cx="19659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11512" y="1993392"/>
            <a:ext cx="1819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2B4C"/>
                </a:solidFill>
                <a:latin typeface="Aptos"/>
              </a:rPr>
              <a:t>Risk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8346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081"/>
                </a:solidFill>
                <a:latin typeface="Aptos"/>
              </a:rPr>
              <a:t>batch / API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78608" y="2331720"/>
            <a:ext cx="256032" cy="0"/>
          </a:xfrm>
          <a:prstGeom prst="line">
            <a:avLst/>
          </a:prstGeom>
          <a:ln w="2286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64608" y="2331720"/>
            <a:ext cx="256032" cy="0"/>
          </a:xfrm>
          <a:prstGeom prst="line">
            <a:avLst/>
          </a:prstGeom>
          <a:ln w="2286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50608" y="2331720"/>
            <a:ext cx="256032" cy="0"/>
          </a:xfrm>
          <a:prstGeom prst="line">
            <a:avLst/>
          </a:prstGeom>
          <a:ln w="2286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36608" y="2331720"/>
            <a:ext cx="256032" cy="0"/>
          </a:xfrm>
          <a:prstGeom prst="line">
            <a:avLst/>
          </a:prstGeom>
          <a:ln w="2286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37947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2B4C"/>
                </a:solidFill>
                <a:latin typeface="Aptos"/>
              </a:rPr>
              <a:t>Operational outputs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297680"/>
            <a:ext cx="2514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297680"/>
            <a:ext cx="68580" cy="1097280"/>
          </a:xfrm>
          <a:prstGeom prst="rect">
            <a:avLst/>
          </a:prstGeom>
          <a:solidFill>
            <a:srgbClr val="49B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7" y="4462272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C"/>
                </a:solidFill>
                <a:latin typeface="Aptos"/>
              </a:rPr>
              <a:t>Retention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4873752"/>
            <a:ext cx="214884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42F3D"/>
                </a:solidFill>
                <a:latin typeface="Aptos"/>
              </a:rPr>
              <a:t>KPIs + high-risk customers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4297680"/>
            <a:ext cx="2514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29000" y="4297680"/>
            <a:ext cx="68580" cy="109728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30168" y="4462272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C"/>
                </a:solidFill>
                <a:latin typeface="Aptos"/>
              </a:rPr>
              <a:t>Customer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4873752"/>
            <a:ext cx="214884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42F3D"/>
                </a:solidFill>
                <a:latin typeface="Aptos"/>
              </a:rPr>
              <a:t>Profile lookup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297680"/>
            <a:ext cx="2514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4297680"/>
            <a:ext cx="68580" cy="109728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19088" y="4462272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C"/>
                </a:solidFill>
                <a:latin typeface="Aptos"/>
              </a:rPr>
              <a:t>Prediction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4873752"/>
            <a:ext cx="214884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42F3D"/>
                </a:solidFill>
                <a:latin typeface="Aptos"/>
              </a:rPr>
              <a:t>Individual churn probability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06839" y="4297680"/>
            <a:ext cx="2514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006839" y="4297680"/>
            <a:ext cx="68580" cy="109728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08007" y="4462272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C"/>
                </a:solidFill>
                <a:latin typeface="Aptos"/>
              </a:rPr>
              <a:t>Future AI assistant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08007" y="4873752"/>
            <a:ext cx="214884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42F3D"/>
                </a:solidFill>
                <a:latin typeface="Aptos"/>
              </a:rPr>
              <a:t>customer_risk_table as a data source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Business Value &amp; Future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A foundation for a more proactive retention operating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474720" cy="132588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68580" cy="132588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993392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Today: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0487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Centralized churn KPIs, customer lookup and prioritized high-risk lists.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474720" cy="1325880"/>
          </a:xfrm>
          <a:prstGeom prst="roundRect">
            <a:avLst/>
          </a:prstGeom>
          <a:solidFill>
            <a:srgbClr val="FCF1E1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68580" cy="132588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993392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Today: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40487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Individual and batch churn risk scoring creates a repeatable prioritization mechanism.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474720" cy="132588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68580" cy="132588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1993392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Today: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0487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Explainable rules, feature interpretation, validation and logging support responsible adoption.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57600"/>
            <a:ext cx="3474720" cy="1325880"/>
          </a:xfrm>
          <a:prstGeom prst="roundRect">
            <a:avLst/>
          </a:prstGeom>
          <a:solidFill>
            <a:srgbClr val="EFEAF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657600"/>
            <a:ext cx="68580" cy="132588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822191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Next: Real-time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23367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Extend the customer-state model with event or usage data when available.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657600"/>
            <a:ext cx="34747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400" y="3657600"/>
            <a:ext cx="68580" cy="1325880"/>
          </a:xfrm>
          <a:prstGeom prst="rect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44568" y="3822191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Next: Smarter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23367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Move from risk identification to next-best retention action and offer recommendation.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657600"/>
            <a:ext cx="34747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20" y="3657600"/>
            <a:ext cx="68580" cy="132588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3822191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Next: AI assistant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423367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Use the customer risk table as a grounded source for a conversational retention assistant.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2356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2B4C"/>
                </a:solidFill>
                <a:latin typeface="Aptos"/>
              </a:rPr>
              <a:t>Goal: reduce the gap between “we know who is at risk” and “we know what to do next.”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Closing: From Churn Data to Retention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A complete foundation for customer retention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2B4C"/>
                </a:solidFill>
                <a:latin typeface="Aptos"/>
              </a:rPr>
              <a:t>One platform.
One customer view.
One actionable risk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Understand the customer</a:t>
            </a:r>
          </a:p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Identify the highest-risk segments</a:t>
            </a:r>
          </a:p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Explain why a customer is risky</a:t>
            </a:r>
          </a:p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Prioritize the next conversation</a:t>
            </a:r>
          </a:p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Continuously refresh the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74519"/>
            <a:ext cx="4846320" cy="105156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1874519"/>
            <a:ext cx="68580" cy="105156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2039112"/>
            <a:ext cx="4526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450591"/>
            <a:ext cx="4480559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Validated + curated customer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127248"/>
            <a:ext cx="4846320" cy="1051560"/>
          </a:xfrm>
          <a:prstGeom prst="roundRect">
            <a:avLst/>
          </a:prstGeom>
          <a:solidFill>
            <a:srgbClr val="EFEAF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3127248"/>
            <a:ext cx="68580" cy="105156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47688" y="3291840"/>
            <a:ext cx="4526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3703320"/>
            <a:ext cx="4480559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Analytics + explainable rules + ML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379976"/>
            <a:ext cx="4846320" cy="105156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46520" y="4379976"/>
            <a:ext cx="68580" cy="1051560"/>
          </a:xfrm>
          <a:prstGeom prst="rect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47688" y="4544568"/>
            <a:ext cx="4526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4956048"/>
            <a:ext cx="4480559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APIs + React dashboard for retention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9497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30</cp:revision>
  <dcterms:created xsi:type="dcterms:W3CDTF">2013-01-27T09:14:16Z</dcterms:created>
  <dcterms:modified xsi:type="dcterms:W3CDTF">2026-09-14T11:44:51Z</dcterms:modified>
  <cp:category/>
</cp:coreProperties>
</file>