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6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3" dt="2026-09-14T05:57:25.182"/>
    <p1510:client id="{94FEF3FC-FDEB-7040-9FAD-9093B17B7AE0}" v="515" dt="2026-09-14T07:24:04.6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F2E411-0C82-4A5C-AD79-D9877559A0DC}" type="datetimeFigureOut">
              <a:t>9/14/2026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E9D943-0501-42F8-B814-629647A4133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47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A2CEDE-2AB4-4FB8-9551-E0AA4222B1A3}" type="datetimeFigureOut">
              <a:rPr lang="en-US" dirty="0"/>
              <a:t>9/14/2026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46604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0EE6BAA-0080-49BB-A5F6-D96B22DFE410}" type="datetimeFigureOut">
              <a:rPr lang="en-US" dirty="0"/>
              <a:t>9/14/2026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5298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21560963-1EEA-4BDE-8FF9-3FEE13B5D43C}" type="datetimeFigureOut">
              <a:rPr lang="en-US" dirty="0"/>
              <a:t>9/14/2026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43353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FigureOut">
              <a:rPr lang="en-US" dirty="0"/>
              <a:t>9/14/2026</a:t>
            </a:fld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6298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FigureOut">
              <a:rPr lang="en-US" dirty="0"/>
              <a:t>9/14/2026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0021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A2CEDE-2AB4-4FB8-9551-E0AA4222B1A3}" type="datetimeFigureOut">
              <a:rPr lang="en-US" dirty="0"/>
              <a:t>9/14/2026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7744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515BC3-2A9C-497B-B82C-246EEDDDF89C}" type="datetimeFigureOut">
              <a:rPr lang="en-US" dirty="0"/>
              <a:t>9/14/2026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92244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A2CEDE-2AB4-4FB8-9551-E0AA4222B1A3}" type="datetimeFigureOut">
              <a:rPr lang="en-US" dirty="0"/>
              <a:t>9/14/2026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41545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3E08220-0958-4EB6-84AC-FBA5654D4035}" type="datetimeFigureOut">
              <a:rPr lang="en-US" dirty="0"/>
              <a:t>9/14/2026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06465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37D881E9-FF16-48A7-B8AA-A17AAAEAD6E1}" type="datetimeFigureOut">
              <a:rPr lang="en-US" dirty="0"/>
              <a:t>9/14/2026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2971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862C1B48-5712-40E8-928E-1136C5D12A17}" type="datetimeFigureOut">
              <a:rPr lang="en-US" dirty="0"/>
              <a:t>9/14/2026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95689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2BDF39F2-6977-4B14-98E3-4DFE82804B0D}" type="datetimeFigureOut">
              <a:rPr lang="en-US" dirty="0"/>
              <a:t>9/14/2026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207314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1B48-5712-40E8-928E-1136C5D12A17}" type="datetimeFigureOut">
              <a:rPr lang="en-US" dirty="0"/>
              <a:t>9/14/2026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582813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23EC03A-74B3-46B6-A70D-0B367EABDC7F}" type="datetimeFigureOut">
              <a:rPr lang="en-US" dirty="0"/>
              <a:t>9/14/2026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76745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D6F66A7C-2450-4D43-AEC7-53AFAE9E8A03}" type="datetimeFigureOut">
              <a:rPr lang="en-US" dirty="0"/>
              <a:t>9/14/2026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10995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FBC323F5-F813-45BA-B261-A7C41DB03AE5}" type="datetimeFigureOut">
              <a:rPr lang="en-US" dirty="0"/>
              <a:t>9/14/2026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40562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4A97960-D10E-4C66-898F-E062784CD6C7}" type="datetimeFigureOut">
              <a:rPr lang="en-US" dirty="0"/>
              <a:t>9/14/2026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544216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4A97960-D10E-4C66-898F-E062784CD6C7}" type="datetimeFigureOut">
              <a:rPr lang="en-US" dirty="0"/>
              <a:t>9/14/2026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629171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7B77AD4-7B4F-4A76-ADEB-9CF6601338DB}" type="datetimeFigureOut">
              <a:rPr lang="en-US" dirty="0"/>
              <a:t>9/14/2026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01403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E0CC3F-E257-4F6E-9E6A-B96D887699EC}" type="datetimeFigureOut">
              <a:rPr lang="en-US" dirty="0"/>
              <a:t>9/14/2026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937867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0BDAA3E-BE52-42BC-99E8-CCCB81A57ABD}" type="datetimeFigureOut">
              <a:rPr lang="en-US" dirty="0"/>
              <a:t>9/14/2026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64383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B1491A9-BF26-4517-AB22-6183D453A902}" type="datetimeFigureOut">
              <a:rPr lang="en-US" dirty="0"/>
              <a:t>9/14/2026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580305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A5024DF-23AF-419A-978A-28215FBF1E37}" type="datetimeFigureOut">
              <a:rPr lang="en-US" dirty="0"/>
              <a:t>9/14/2026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6328616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B01CFC0-D171-4F9D-A610-2F47C1080058}" type="datetimeFigureOut">
              <a:rPr lang="en-US" dirty="0"/>
              <a:t>9/14/2026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18093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DA2CEDE-2AB4-4FB8-9551-E0AA4222B1A3}" type="datetimeFigureOut">
              <a:rPr lang="en-US" dirty="0"/>
              <a:t>9/14/2026</a:t>
            </a:fld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6008647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42483-B3E3-4399-B6B2-4B1D067F8CE5}" type="datetimeFigureOut">
              <a:rPr lang="en-US" dirty="0"/>
              <a:t>9/14/2026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24839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6574F-2CAD-411B-9EF3-12D0DF2C09EB}" type="datetimeFigureOut">
              <a:rPr lang="en-US" dirty="0"/>
              <a:t>9/14/2026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850675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FE8FD-B23E-4E1A-83EF-0847EBEA0105}" type="datetimeFigureOut">
              <a:rPr lang="en-US" dirty="0"/>
              <a:t>9/14/2026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208299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8886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7DA2CEDE-2AB4-4FB8-9551-E0AA4222B1A3}" type="datetimeFigureOut">
              <a:rPr lang="en-US" dirty="0"/>
              <a:pPr/>
              <a:t>9/14/2026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76943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47" r:id="rId1"/>
    <p:sldLayoutId id="2147483848" r:id="rId2"/>
    <p:sldLayoutId id="2147483849" r:id="rId3"/>
    <p:sldLayoutId id="2147483850" r:id="rId4"/>
    <p:sldLayoutId id="2147483851" r:id="rId5"/>
    <p:sldLayoutId id="2147483852" r:id="rId6"/>
    <p:sldLayoutId id="2147483853" r:id="rId7"/>
    <p:sldLayoutId id="2147483854" r:id="rId8"/>
    <p:sldLayoutId id="2147483855" r:id="rId9"/>
    <p:sldLayoutId id="2147483856" r:id="rId10"/>
    <p:sldLayoutId id="2147483857" r:id="rId11"/>
    <p:sldLayoutId id="2147483858" r:id="rId12"/>
    <p:sldLayoutId id="2147483859" r:id="rId13"/>
    <p:sldLayoutId id="2147483860" r:id="rId14"/>
    <p:sldLayoutId id="2147483861" r:id="rId15"/>
    <p:sldLayoutId id="2147483862" r:id="rId16"/>
    <p:sldLayoutId id="2147483863" r:id="rId17"/>
    <p:sldLayoutId id="2147483864" r:id="rId18"/>
    <p:sldLayoutId id="2147483865" r:id="rId19"/>
    <p:sldLayoutId id="2147483866" r:id="rId20"/>
    <p:sldLayoutId id="2147483867" r:id="rId21"/>
    <p:sldLayoutId id="2147483868" r:id="rId22"/>
    <p:sldLayoutId id="2147483869" r:id="rId23"/>
    <p:sldLayoutId id="2147483870" r:id="rId24"/>
    <p:sldLayoutId id="2147483871" r:id="rId25"/>
    <p:sldLayoutId id="2147483872" r:id="rId26"/>
    <p:sldLayoutId id="2147483873" r:id="rId27"/>
    <p:sldLayoutId id="2147483874" r:id="rId28"/>
    <p:sldLayoutId id="2147483875" r:id="rId29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9D98A"/>
          </a:solidFill>
          <a:ln w="10160">
            <a:solidFill>
              <a:srgbClr val="39D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877824"/>
            <a:ext cx="228600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700" b="1">
                <a:solidFill>
                  <a:srgbClr val="5C6D7E"/>
                </a:solidFill>
                <a:latin typeface="Consolas"/>
              </a:rPr>
              <a:t>NETWORK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828800"/>
            <a:ext cx="10058400" cy="541687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400" b="1" dirty="0">
                <a:solidFill>
                  <a:srgbClr val="E7EDF3"/>
                </a:solidFill>
                <a:latin typeface="Aptos"/>
              </a:rPr>
              <a:t>Telecom Network Analytics</a:t>
            </a:r>
            <a:endParaRPr lang="en-US" dirty="0">
              <a:solidFill>
                <a:srgbClr val="E7EDF3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1792" y="2487168"/>
            <a:ext cx="9875520" cy="31085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900" b="0" dirty="0">
                <a:solidFill>
                  <a:srgbClr val="8B9DB1"/>
                </a:solidFill>
                <a:latin typeface="Aptos"/>
              </a:rPr>
              <a:t>From raw mobile activity to an operational intelligence control room.</a:t>
            </a:r>
            <a:endParaRPr lang="en-US" dirty="0">
              <a:solidFill>
                <a:srgbClr val="8B9DB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3337560"/>
            <a:ext cx="1325880" cy="274320"/>
          </a:xfrm>
          <a:prstGeom prst="roundRect">
            <a:avLst/>
          </a:prstGeom>
          <a:solidFill>
            <a:srgbClr val="0F2F25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374136"/>
            <a:ext cx="132588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730" b="1">
                <a:solidFill>
                  <a:srgbClr val="39D98A"/>
                </a:solidFill>
                <a:latin typeface="Consolas"/>
              </a:rPr>
              <a:t>DATA ENGINEERING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57400" y="3337560"/>
            <a:ext cx="822960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57400" y="3374136"/>
            <a:ext cx="82296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730" b="1">
                <a:solidFill>
                  <a:srgbClr val="4F8CFF"/>
                </a:solidFill>
                <a:latin typeface="Consolas"/>
              </a:rPr>
              <a:t>FASTAPI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99232" y="3337560"/>
            <a:ext cx="1005840" cy="274320"/>
          </a:xfrm>
          <a:prstGeom prst="roundRect">
            <a:avLst/>
          </a:prstGeom>
          <a:solidFill>
            <a:srgbClr val="0F2F25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99232" y="3374136"/>
            <a:ext cx="100584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730" b="1">
                <a:solidFill>
                  <a:srgbClr val="39D98A"/>
                </a:solidFill>
                <a:latin typeface="Consolas"/>
              </a:rPr>
              <a:t>REACT NOC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51376" y="3337560"/>
            <a:ext cx="1325880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51376" y="3374136"/>
            <a:ext cx="132588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730" b="1">
                <a:solidFill>
                  <a:srgbClr val="F0B35B"/>
                </a:solidFill>
                <a:latin typeface="Consolas"/>
              </a:rPr>
              <a:t>MACHINE LEARNING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23560" y="3337560"/>
            <a:ext cx="1051560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23560" y="3374136"/>
            <a:ext cx="105156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730" b="1">
                <a:solidFill>
                  <a:srgbClr val="8B9DB1"/>
                </a:solidFill>
                <a:latin typeface="Consolas"/>
              </a:rPr>
              <a:t>CLAUDE READY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572000"/>
            <a:ext cx="640080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100" b="1" dirty="0">
                <a:solidFill>
                  <a:srgbClr val="E7EDF3"/>
                </a:solidFill>
                <a:latin typeface="Aptos"/>
              </a:rPr>
              <a:t>Customer / Team Lead Presentation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937760"/>
            <a:ext cx="7223760" cy="203133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200" b="0" dirty="0">
                <a:solidFill>
                  <a:srgbClr val="8B9DB1"/>
                </a:solidFill>
                <a:latin typeface="Aptos"/>
              </a:rPr>
              <a:t>A production-minded analytics journey with operational visibility, predictive risk and explainable evidence.</a:t>
            </a:r>
            <a:endParaRPr lang="en-US" dirty="0">
              <a:solidFill>
                <a:srgbClr val="8B9DB1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458200" y="1371600"/>
            <a:ext cx="2926080" cy="425196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732520" y="1664208"/>
            <a:ext cx="164592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720" b="1">
                <a:solidFill>
                  <a:srgbClr val="5C6D7E"/>
                </a:solidFill>
                <a:latin typeface="Consolas"/>
              </a:rPr>
              <a:t>ACTIVITY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1883664"/>
            <a:ext cx="201168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300" b="1">
                <a:solidFill>
                  <a:srgbClr val="E7EDF3"/>
                </a:solidFill>
                <a:latin typeface="Aptos"/>
              </a:rPr>
              <a:t>NETWORK VIEW</a:t>
            </a:r>
          </a:p>
        </p:txBody>
      </p:sp>
      <p:sp>
        <p:nvSpPr>
          <p:cNvPr id="22" name="Oval 21"/>
          <p:cNvSpPr/>
          <p:nvPr/>
        </p:nvSpPr>
        <p:spPr>
          <a:xfrm>
            <a:off x="10835640" y="1737360"/>
            <a:ext cx="146304" cy="146304"/>
          </a:xfrm>
          <a:prstGeom prst="ellipse">
            <a:avLst/>
          </a:prstGeom>
          <a:solidFill>
            <a:srgbClr val="39D98A"/>
          </a:solidFill>
          <a:ln>
            <a:solidFill>
              <a:srgbClr val="39D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32520" y="2532888"/>
            <a:ext cx="164592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720" b="1">
                <a:solidFill>
                  <a:srgbClr val="5C6D7E"/>
                </a:solidFill>
                <a:latin typeface="Consolas"/>
              </a:rPr>
              <a:t>GRID COVERAGE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20" y="2752344"/>
            <a:ext cx="201168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300" b="1">
                <a:solidFill>
                  <a:srgbClr val="E7EDF3"/>
                </a:solidFill>
                <a:latin typeface="Aptos"/>
              </a:rPr>
              <a:t>10,000</a:t>
            </a:r>
          </a:p>
        </p:txBody>
      </p:sp>
      <p:sp>
        <p:nvSpPr>
          <p:cNvPr id="25" name="Oval 24"/>
          <p:cNvSpPr/>
          <p:nvPr/>
        </p:nvSpPr>
        <p:spPr>
          <a:xfrm>
            <a:off x="10835640" y="2606040"/>
            <a:ext cx="146304" cy="146304"/>
          </a:xfrm>
          <a:prstGeom prst="ellipse">
            <a:avLst/>
          </a:prstGeom>
          <a:solidFill>
            <a:srgbClr val="4F8CFF"/>
          </a:solidFill>
          <a:ln>
            <a:solidFill>
              <a:srgbClr val="4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732520" y="3401568"/>
            <a:ext cx="164592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720" b="1">
                <a:solidFill>
                  <a:srgbClr val="5C6D7E"/>
                </a:solidFill>
                <a:latin typeface="Consolas"/>
              </a:rPr>
              <a:t>ALERTS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20" y="3621024"/>
            <a:ext cx="201168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300" b="1">
                <a:solidFill>
                  <a:srgbClr val="E7EDF3"/>
                </a:solidFill>
                <a:latin typeface="Aptos"/>
              </a:rPr>
              <a:t>OPERATIONAL</a:t>
            </a:r>
          </a:p>
        </p:txBody>
      </p:sp>
      <p:sp>
        <p:nvSpPr>
          <p:cNvPr id="28" name="Oval 27"/>
          <p:cNvSpPr/>
          <p:nvPr/>
        </p:nvSpPr>
        <p:spPr>
          <a:xfrm>
            <a:off x="10835640" y="3474720"/>
            <a:ext cx="146304" cy="146304"/>
          </a:xfrm>
          <a:prstGeom prst="ellipse">
            <a:avLst/>
          </a:prstGeom>
          <a:solidFill>
            <a:srgbClr val="F0B35B"/>
          </a:solidFill>
          <a:ln>
            <a:solidFill>
              <a:srgbClr val="F0B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732520" y="4270248"/>
            <a:ext cx="164592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720" b="1">
                <a:solidFill>
                  <a:srgbClr val="5C6D7E"/>
                </a:solidFill>
                <a:latin typeface="Consolas"/>
              </a:rPr>
              <a:t>RISK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2520" y="4489704"/>
            <a:ext cx="201168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300" b="1">
                <a:solidFill>
                  <a:srgbClr val="E7EDF3"/>
                </a:solidFill>
                <a:latin typeface="Aptos"/>
              </a:rPr>
              <a:t>PREDICTIVE</a:t>
            </a:r>
          </a:p>
        </p:txBody>
      </p:sp>
      <p:sp>
        <p:nvSpPr>
          <p:cNvPr id="31" name="Oval 30"/>
          <p:cNvSpPr/>
          <p:nvPr/>
        </p:nvSpPr>
        <p:spPr>
          <a:xfrm>
            <a:off x="10835640" y="4343400"/>
            <a:ext cx="146304" cy="146304"/>
          </a:xfrm>
          <a:prstGeom prst="ellipse">
            <a:avLst/>
          </a:prstGeom>
          <a:solidFill>
            <a:srgbClr val="FF6B72"/>
          </a:solidFill>
          <a:ln>
            <a:solidFill>
              <a:srgbClr val="FF6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2" name="Connector 31"/>
          <p:cNvCxnSpPr/>
          <p:nvPr/>
        </p:nvCxnSpPr>
        <p:spPr>
          <a:xfrm>
            <a:off x="566928" y="6528816"/>
            <a:ext cx="11064240" cy="0"/>
          </a:xfrm>
          <a:prstGeom prst="line">
            <a:avLst/>
          </a:prstGeom>
          <a:ln w="8890">
            <a:solidFill>
              <a:srgbClr val="233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66928" y="6574536"/>
            <a:ext cx="5029200" cy="1463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670" b="1">
                <a:solidFill>
                  <a:srgbClr val="5C6D7E"/>
                </a:solidFill>
                <a:latin typeface="Consolas"/>
              </a:rPr>
              <a:t>NEXUS  /  TELECOM NETWORK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457200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01 /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27893"/>
            <a:ext cx="10789920" cy="43396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700" b="1" dirty="0">
                <a:solidFill>
                  <a:srgbClr val="E7EDF3"/>
                </a:solidFill>
                <a:latin typeface="Aptos"/>
              </a:rPr>
              <a:t>What the platform delivers</a:t>
            </a:r>
            <a:endParaRPr lang="en-US" dirty="0">
              <a:solidFill>
                <a:srgbClr val="E7EDF3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161288"/>
            <a:ext cx="10789920" cy="190821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100" b="0">
                <a:solidFill>
                  <a:srgbClr val="8B9DB1"/>
                </a:solidFill>
                <a:latin typeface="Aptos"/>
              </a:rPr>
              <a:t>A single operational view from network activity to prioritized investigation.</a:t>
            </a:r>
            <a:endParaRPr lang="en-US">
              <a:solidFill>
                <a:srgbClr val="8B9DB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800" b="1">
                <a:solidFill>
                  <a:srgbClr val="5C6D7E"/>
                </a:solidFill>
                <a:latin typeface="Consola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83080"/>
            <a:ext cx="2514600" cy="169164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58952" y="1947672"/>
            <a:ext cx="347472" cy="347472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77824" y="2066543"/>
            <a:ext cx="109728" cy="109728"/>
          </a:xfrm>
          <a:prstGeom prst="ellipse">
            <a:avLst/>
          </a:prstGeom>
          <a:solidFill>
            <a:srgbClr val="39D98A"/>
          </a:solidFill>
          <a:ln>
            <a:solidFill>
              <a:srgbClr val="39D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2404872"/>
            <a:ext cx="2185416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19" b="1">
                <a:solidFill>
                  <a:srgbClr val="8B9DB1"/>
                </a:solidFill>
                <a:latin typeface="Consolas"/>
              </a:rPr>
              <a:t>NETWORK VISIBILITY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679191"/>
            <a:ext cx="2185416" cy="38404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300" b="1">
                <a:solidFill>
                  <a:srgbClr val="E7EDF3"/>
                </a:solidFill>
                <a:latin typeface="Aptos"/>
              </a:rPr>
              <a:t>10,000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118104"/>
            <a:ext cx="2185416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930" b="0">
                <a:solidFill>
                  <a:srgbClr val="8B9DB1"/>
                </a:solidFill>
                <a:latin typeface="Aptos"/>
              </a:rPr>
              <a:t>Milan grid cells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73552" y="1783080"/>
            <a:ext cx="2514600" cy="169164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438144" y="1947672"/>
            <a:ext cx="347472" cy="347472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557016" y="2066543"/>
            <a:ext cx="109728" cy="109728"/>
          </a:xfrm>
          <a:prstGeom prst="ellipse">
            <a:avLst/>
          </a:prstGeom>
          <a:solidFill>
            <a:srgbClr val="4F8CFF"/>
          </a:solidFill>
          <a:ln>
            <a:solidFill>
              <a:srgbClr val="4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38144" y="2404872"/>
            <a:ext cx="2185416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19" b="1">
                <a:solidFill>
                  <a:srgbClr val="8B9DB1"/>
                </a:solidFill>
                <a:latin typeface="Consolas"/>
              </a:rPr>
              <a:t>OPERATIONAL VIEWS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38144" y="2679191"/>
            <a:ext cx="2185416" cy="38404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300" b="1">
                <a:solidFill>
                  <a:srgbClr val="E7EDF3"/>
                </a:solidFill>
                <a:latin typeface="Aptos"/>
              </a:rPr>
              <a:t>5+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38144" y="3118104"/>
            <a:ext cx="2185416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930" b="0">
                <a:solidFill>
                  <a:srgbClr val="8B9DB1"/>
                </a:solidFill>
                <a:latin typeface="Aptos"/>
              </a:rPr>
              <a:t>Overview, grids, hotspots, alerts, risk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52744" y="1783080"/>
            <a:ext cx="2514600" cy="169164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17336" y="1947672"/>
            <a:ext cx="347472" cy="347472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236207" y="2066543"/>
            <a:ext cx="109728" cy="109728"/>
          </a:xfrm>
          <a:prstGeom prst="ellipse">
            <a:avLst/>
          </a:prstGeom>
          <a:solidFill>
            <a:srgbClr val="F0B35B"/>
          </a:solidFill>
          <a:ln>
            <a:solidFill>
              <a:srgbClr val="F0B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17336" y="2404872"/>
            <a:ext cx="2185416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19" b="1">
                <a:solidFill>
                  <a:srgbClr val="8B9DB1"/>
                </a:solidFill>
                <a:latin typeface="Consolas"/>
              </a:rPr>
              <a:t>DECISION SIGNALS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17336" y="2679191"/>
            <a:ext cx="2185416" cy="38404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300" b="1">
                <a:solidFill>
                  <a:srgbClr val="E7EDF3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17336" y="3118104"/>
            <a:ext cx="2185416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930" b="0">
                <a:solidFill>
                  <a:srgbClr val="8B9DB1"/>
                </a:solidFill>
                <a:latin typeface="Aptos"/>
              </a:rPr>
              <a:t>Rules, anomaly baseline, ML risk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31936" y="1783080"/>
            <a:ext cx="2514600" cy="169164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796528" y="1947672"/>
            <a:ext cx="347472" cy="347472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915400" y="2066543"/>
            <a:ext cx="109728" cy="109728"/>
          </a:xfrm>
          <a:prstGeom prst="ellipse">
            <a:avLst/>
          </a:prstGeom>
          <a:solidFill>
            <a:srgbClr val="39D98A"/>
          </a:solidFill>
          <a:ln>
            <a:solidFill>
              <a:srgbClr val="39D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796528" y="2404872"/>
            <a:ext cx="2185416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19" b="1">
                <a:solidFill>
                  <a:srgbClr val="8B9DB1"/>
                </a:solidFill>
                <a:latin typeface="Consolas"/>
              </a:rPr>
              <a:t>AI-READY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96528" y="2679191"/>
            <a:ext cx="2185416" cy="38404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300" b="1">
                <a:solidFill>
                  <a:srgbClr val="E7EDF3"/>
                </a:solidFill>
                <a:latin typeface="Aptos"/>
              </a:rPr>
              <a:t>Claude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96528" y="3118104"/>
            <a:ext cx="2185416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930" b="0">
                <a:solidFill>
                  <a:srgbClr val="8B9DB1"/>
                </a:solidFill>
                <a:latin typeface="Aptos"/>
              </a:rPr>
              <a:t>Evidence-grounded assistant layer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3886200"/>
            <a:ext cx="25603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CUSTOMER OUTCOME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4187952"/>
            <a:ext cx="5120640" cy="110030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700"/>
              </a:spcAft>
            </a:pPr>
            <a:r>
              <a:rPr sz="1200" b="1" dirty="0">
                <a:solidFill>
                  <a:srgbClr val="39D98A"/>
                </a:solidFill>
                <a:latin typeface="Aptos"/>
              </a:rPr>
              <a:t>▸ </a:t>
            </a:r>
            <a:r>
              <a:rPr sz="1200" dirty="0">
                <a:solidFill>
                  <a:srgbClr val="E7EDF3"/>
                </a:solidFill>
                <a:latin typeface="Aptos"/>
              </a:rPr>
              <a:t>Move from raw activity tables to an operator-friendly control room.</a:t>
            </a:r>
            <a:endParaRPr lang="en-US">
              <a:solidFill>
                <a:srgbClr val="E7EDF3"/>
              </a:solidFill>
            </a:endParaRPr>
          </a:p>
          <a:p>
            <a:pPr>
              <a:spcAft>
                <a:spcPts val="700"/>
              </a:spcAft>
            </a:pPr>
            <a:r>
              <a:rPr sz="1200" b="1" dirty="0">
                <a:solidFill>
                  <a:srgbClr val="39D98A"/>
                </a:solidFill>
                <a:latin typeface="Aptos"/>
              </a:rPr>
              <a:t>▸ </a:t>
            </a:r>
            <a:r>
              <a:rPr sz="1200" dirty="0">
                <a:solidFill>
                  <a:srgbClr val="E7EDF3"/>
                </a:solidFill>
                <a:latin typeface="Aptos"/>
              </a:rPr>
              <a:t>Identify where activity is unusual and why it deserves attention.</a:t>
            </a:r>
          </a:p>
          <a:p>
            <a:pPr>
              <a:spcAft>
                <a:spcPts val="700"/>
              </a:spcAft>
            </a:pPr>
            <a:r>
              <a:rPr sz="1200" b="1" dirty="0">
                <a:solidFill>
                  <a:srgbClr val="39D98A"/>
                </a:solidFill>
                <a:latin typeface="Aptos"/>
              </a:rPr>
              <a:t>▸ </a:t>
            </a:r>
            <a:r>
              <a:rPr sz="1200" dirty="0">
                <a:solidFill>
                  <a:srgbClr val="E7EDF3"/>
                </a:solidFill>
                <a:latin typeface="Aptos"/>
              </a:rPr>
              <a:t>Connect spatial context, historical behavior and predictive risk.</a:t>
            </a:r>
          </a:p>
          <a:p>
            <a:pPr>
              <a:spcAft>
                <a:spcPts val="700"/>
              </a:spcAft>
            </a:pPr>
            <a:r>
              <a:rPr sz="1200" b="1" dirty="0">
                <a:solidFill>
                  <a:srgbClr val="39D98A"/>
                </a:solidFill>
                <a:latin typeface="Aptos"/>
              </a:rPr>
              <a:t>▸ </a:t>
            </a:r>
            <a:r>
              <a:rPr sz="1200" dirty="0">
                <a:solidFill>
                  <a:srgbClr val="E7EDF3"/>
                </a:solidFill>
                <a:latin typeface="Aptos"/>
              </a:rPr>
              <a:t>Keep data quality visible before decisions are made.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3886200"/>
            <a:ext cx="25603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ENGINEERING OUTCOME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200" y="4187952"/>
            <a:ext cx="5257800" cy="110030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39D98A"/>
                </a:solidFill>
                <a:latin typeface="Aptos"/>
              </a:rPr>
              <a:t>▸ </a:t>
            </a:r>
            <a:r>
              <a:rPr sz="1200">
                <a:solidFill>
                  <a:srgbClr val="E7EDF3"/>
                </a:solidFill>
                <a:latin typeface="Aptos"/>
              </a:rPr>
              <a:t>Layered architecture with clear responsibility boundaries.</a:t>
            </a:r>
            <a:endParaRPr lang="en-US">
              <a:solidFill>
                <a:srgbClr val="E7EDF3"/>
              </a:solidFill>
            </a:endParaRPr>
          </a:p>
          <a:p>
            <a:pPr>
              <a:spcAft>
                <a:spcPts val="700"/>
              </a:spcAft>
            </a:pPr>
            <a:r>
              <a:rPr sz="1200" b="1" dirty="0">
                <a:solidFill>
                  <a:srgbClr val="39D98A"/>
                </a:solidFill>
                <a:latin typeface="Aptos"/>
              </a:rPr>
              <a:t>▸ </a:t>
            </a:r>
            <a:r>
              <a:rPr sz="1200" dirty="0">
                <a:solidFill>
                  <a:srgbClr val="E7EDF3"/>
                </a:solidFill>
                <a:latin typeface="Aptos"/>
              </a:rPr>
              <a:t>Reusable </a:t>
            </a:r>
            <a:r>
              <a:rPr sz="1200" dirty="0" err="1">
                <a:solidFill>
                  <a:srgbClr val="E7EDF3"/>
                </a:solidFill>
                <a:latin typeface="Aptos"/>
              </a:rPr>
              <a:t>FastAPI</a:t>
            </a:r>
            <a:r>
              <a:rPr sz="1200" dirty="0">
                <a:solidFill>
                  <a:srgbClr val="E7EDF3"/>
                </a:solidFill>
                <a:latin typeface="Aptos"/>
              </a:rPr>
              <a:t> contracts consumed by the React dashboard.</a:t>
            </a:r>
          </a:p>
          <a:p>
            <a:pPr>
              <a:spcAft>
                <a:spcPts val="700"/>
              </a:spcAft>
            </a:pPr>
            <a:r>
              <a:rPr sz="1200" b="1" dirty="0">
                <a:solidFill>
                  <a:srgbClr val="39D98A"/>
                </a:solidFill>
                <a:latin typeface="Aptos"/>
              </a:rPr>
              <a:t>▸ </a:t>
            </a:r>
            <a:r>
              <a:rPr sz="1200" dirty="0">
                <a:solidFill>
                  <a:srgbClr val="E7EDF3"/>
                </a:solidFill>
                <a:latin typeface="Aptos"/>
              </a:rPr>
              <a:t>Time-aware ML features and chronological validation.</a:t>
            </a:r>
          </a:p>
          <a:p>
            <a:pPr>
              <a:spcAft>
                <a:spcPts val="700"/>
              </a:spcAft>
            </a:pPr>
            <a:r>
              <a:rPr sz="1200" b="1" dirty="0">
                <a:solidFill>
                  <a:srgbClr val="39D98A"/>
                </a:solidFill>
                <a:latin typeface="Aptos"/>
              </a:rPr>
              <a:t>▸ </a:t>
            </a:r>
            <a:r>
              <a:rPr sz="1200" dirty="0">
                <a:solidFill>
                  <a:srgbClr val="E7EDF3"/>
                </a:solidFill>
                <a:latin typeface="Aptos"/>
              </a:rPr>
              <a:t>Designed for safe AI augmentation rather than AI replacing analytics.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66928" y="6528816"/>
            <a:ext cx="11064240" cy="0"/>
          </a:xfrm>
          <a:prstGeom prst="line">
            <a:avLst/>
          </a:prstGeom>
          <a:ln w="8890">
            <a:solidFill>
              <a:srgbClr val="233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66928" y="6574536"/>
            <a:ext cx="5029200" cy="1463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670" b="1">
                <a:solidFill>
                  <a:srgbClr val="5C6D7E"/>
                </a:solidFill>
                <a:latin typeface="Consolas"/>
              </a:rPr>
              <a:t>NEXUS  /  TELECOM NETWORK ANALYTICS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457200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02 /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7655" y="691065"/>
            <a:ext cx="10789920" cy="4754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700" b="1">
                <a:solidFill>
                  <a:srgbClr val="E7EDF3"/>
                </a:solidFill>
                <a:latin typeface="Aptos"/>
              </a:rPr>
              <a:t>The operational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61288"/>
            <a:ext cx="10789920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120" b="0">
                <a:solidFill>
                  <a:srgbClr val="8B9DB1"/>
                </a:solidFill>
                <a:latin typeface="Aptos"/>
              </a:rPr>
              <a:t>Network teams have data — the challenge is turning it into a trustworthy next 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800" b="1">
                <a:solidFill>
                  <a:srgbClr val="5C6D7E"/>
                </a:solidFill>
                <a:latin typeface="Consola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91640"/>
            <a:ext cx="5303520" cy="434340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448056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FF6B72"/>
                </a:solidFill>
                <a:latin typeface="Consolas"/>
              </a:rPr>
              <a:t>WITHOUT AN INTEGRATED 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23160"/>
            <a:ext cx="4526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20" b="1">
                <a:solidFill>
                  <a:srgbClr val="FF6B72"/>
                </a:solidFill>
                <a:latin typeface="Aptos"/>
              </a:rPr>
              <a:t>▸ </a:t>
            </a:r>
            <a:r>
              <a:rPr sz="1220">
                <a:solidFill>
                  <a:srgbClr val="E7EDF3"/>
                </a:solidFill>
                <a:latin typeface="Aptos"/>
              </a:rPr>
              <a:t>Large hourly activity datasets are difficult to scan manually.</a:t>
            </a:r>
          </a:p>
          <a:p>
            <a:pPr>
              <a:spcAft>
                <a:spcPts val="1000"/>
              </a:spcAft>
            </a:pPr>
            <a:r>
              <a:rPr sz="1220" b="1">
                <a:solidFill>
                  <a:srgbClr val="FF6B72"/>
                </a:solidFill>
                <a:latin typeface="Aptos"/>
              </a:rPr>
              <a:t>▸ </a:t>
            </a:r>
            <a:r>
              <a:rPr sz="1220">
                <a:solidFill>
                  <a:srgbClr val="E7EDF3"/>
                </a:solidFill>
                <a:latin typeface="Aptos"/>
              </a:rPr>
              <a:t>A high value does not automatically mean an operational incident.</a:t>
            </a:r>
          </a:p>
          <a:p>
            <a:pPr>
              <a:spcAft>
                <a:spcPts val="1000"/>
              </a:spcAft>
            </a:pPr>
            <a:r>
              <a:rPr sz="1220" b="1">
                <a:solidFill>
                  <a:srgbClr val="FF6B72"/>
                </a:solidFill>
                <a:latin typeface="Aptos"/>
              </a:rPr>
              <a:t>▸ </a:t>
            </a:r>
            <a:r>
              <a:rPr sz="1220">
                <a:solidFill>
                  <a:srgbClr val="E7EDF3"/>
                </a:solidFill>
                <a:latin typeface="Aptos"/>
              </a:rPr>
              <a:t>Historical context is needed to distinguish recurring peaks from deviations.</a:t>
            </a:r>
          </a:p>
          <a:p>
            <a:pPr>
              <a:spcAft>
                <a:spcPts val="1000"/>
              </a:spcAft>
            </a:pPr>
            <a:r>
              <a:rPr sz="1220" b="1">
                <a:solidFill>
                  <a:srgbClr val="FF6B72"/>
                </a:solidFill>
                <a:latin typeface="Aptos"/>
              </a:rPr>
              <a:t>▸ </a:t>
            </a:r>
            <a:r>
              <a:rPr sz="1220">
                <a:solidFill>
                  <a:srgbClr val="E7EDF3"/>
                </a:solidFill>
                <a:latin typeface="Aptos"/>
              </a:rPr>
              <a:t>Predictive scores need network evidence around them.</a:t>
            </a:r>
          </a:p>
          <a:p>
            <a:pPr>
              <a:spcAft>
                <a:spcPts val="1000"/>
              </a:spcAft>
            </a:pPr>
            <a:r>
              <a:rPr sz="1220" b="1">
                <a:solidFill>
                  <a:srgbClr val="FF6B72"/>
                </a:solidFill>
                <a:latin typeface="Aptos"/>
              </a:rPr>
              <a:t>▸ </a:t>
            </a:r>
            <a:r>
              <a:rPr sz="1220">
                <a:solidFill>
                  <a:srgbClr val="E7EDF3"/>
                </a:solidFill>
                <a:latin typeface="Aptos"/>
              </a:rPr>
              <a:t>If the pipeline is stale or unhealthy, downstream conclusions can mislead.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91640"/>
            <a:ext cx="5303520" cy="434340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965960"/>
            <a:ext cx="448056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WITH NEXUS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423160"/>
            <a:ext cx="4526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20" b="1">
                <a:solidFill>
                  <a:srgbClr val="39D98A"/>
                </a:solidFill>
                <a:latin typeface="Aptos"/>
              </a:rPr>
              <a:t>▸ </a:t>
            </a:r>
            <a:r>
              <a:rPr sz="1220">
                <a:solidFill>
                  <a:srgbClr val="E7EDF3"/>
                </a:solidFill>
                <a:latin typeface="Aptos"/>
              </a:rPr>
              <a:t>Start with current KPIs and a shared reporting timestamp.</a:t>
            </a:r>
          </a:p>
          <a:p>
            <a:pPr>
              <a:spcAft>
                <a:spcPts val="1000"/>
              </a:spcAft>
            </a:pPr>
            <a:r>
              <a:rPr sz="1220" b="1">
                <a:solidFill>
                  <a:srgbClr val="39D98A"/>
                </a:solidFill>
                <a:latin typeface="Aptos"/>
              </a:rPr>
              <a:t>▸ </a:t>
            </a:r>
            <a:r>
              <a:rPr sz="1220">
                <a:solidFill>
                  <a:srgbClr val="E7EDF3"/>
                </a:solidFill>
                <a:latin typeface="Aptos"/>
              </a:rPr>
              <a:t>Drill from a grid to hourly activity and spatial context.</a:t>
            </a:r>
          </a:p>
          <a:p>
            <a:pPr>
              <a:spcAft>
                <a:spcPts val="1000"/>
              </a:spcAft>
            </a:pPr>
            <a:r>
              <a:rPr sz="1220" b="1">
                <a:solidFill>
                  <a:srgbClr val="39D98A"/>
                </a:solidFill>
                <a:latin typeface="Aptos"/>
              </a:rPr>
              <a:t>▸ </a:t>
            </a:r>
            <a:r>
              <a:rPr sz="1220">
                <a:solidFill>
                  <a:srgbClr val="E7EDF3"/>
                </a:solidFill>
                <a:latin typeface="Aptos"/>
              </a:rPr>
              <a:t>Prioritize hotspots and operational alerts.</a:t>
            </a:r>
          </a:p>
          <a:p>
            <a:pPr>
              <a:spcAft>
                <a:spcPts val="1000"/>
              </a:spcAft>
            </a:pPr>
            <a:r>
              <a:rPr sz="1220" b="1">
                <a:solidFill>
                  <a:srgbClr val="39D98A"/>
                </a:solidFill>
                <a:latin typeface="Aptos"/>
              </a:rPr>
              <a:t>▸ </a:t>
            </a:r>
            <a:r>
              <a:rPr sz="1220">
                <a:solidFill>
                  <a:srgbClr val="E7EDF3"/>
                </a:solidFill>
                <a:latin typeface="Aptos"/>
              </a:rPr>
              <a:t>Assess future high-activity risk with an explainable baseline model.</a:t>
            </a:r>
          </a:p>
          <a:p>
            <a:pPr>
              <a:spcAft>
                <a:spcPts val="1000"/>
              </a:spcAft>
            </a:pPr>
            <a:r>
              <a:rPr sz="1220" b="1">
                <a:solidFill>
                  <a:srgbClr val="39D98A"/>
                </a:solidFill>
                <a:latin typeface="Aptos"/>
              </a:rPr>
              <a:t>▸ </a:t>
            </a:r>
            <a:r>
              <a:rPr sz="1220">
                <a:solidFill>
                  <a:srgbClr val="E7EDF3"/>
                </a:solidFill>
                <a:latin typeface="Aptos"/>
              </a:rPr>
              <a:t>Keep evidence, uncertainty and data health visible.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6928" y="6528816"/>
            <a:ext cx="11064240" cy="0"/>
          </a:xfrm>
          <a:prstGeom prst="line">
            <a:avLst/>
          </a:prstGeom>
          <a:ln w="8890">
            <a:solidFill>
              <a:srgbClr val="233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66928" y="6574536"/>
            <a:ext cx="5029200" cy="1463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670" b="1">
                <a:solidFill>
                  <a:srgbClr val="5C6D7E"/>
                </a:solidFill>
                <a:latin typeface="Consolas"/>
              </a:rPr>
              <a:t>NEXUS  /  TELECOM NETWORK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457200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03 /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789920" cy="4754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700" b="1">
                <a:solidFill>
                  <a:srgbClr val="E7EDF3"/>
                </a:solidFill>
                <a:latin typeface="Aptos"/>
              </a:rPr>
              <a:t>One system, built in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61288"/>
            <a:ext cx="10789920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120" b="0">
                <a:solidFill>
                  <a:srgbClr val="8B9DB1"/>
                </a:solidFill>
                <a:latin typeface="Aptos"/>
              </a:rPr>
              <a:t>Compute, score and reasoning stay separated.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800" b="1">
                <a:solidFill>
                  <a:srgbClr val="5C6D7E"/>
                </a:solidFill>
                <a:latin typeface="Consolas"/>
              </a:rPr>
              <a:t>04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64672" y="4595949"/>
            <a:ext cx="10972800" cy="1298448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58784" y="4882421"/>
            <a:ext cx="182880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RESPONSIBILITY BOUNDARY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743200" y="4879294"/>
            <a:ext cx="8412480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100" b="1">
                <a:solidFill>
                  <a:srgbClr val="E7EDF3"/>
                </a:solidFill>
                <a:latin typeface="Aptos"/>
              </a:rPr>
              <a:t>Spark / SQL  compute and prepare evidence  •  ML  scores operational risk  •  Claude  reasons over curated evidence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43200" y="5245925"/>
            <a:ext cx="841248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950" b="0">
                <a:solidFill>
                  <a:srgbClr val="8B9DB1"/>
                </a:solidFill>
                <a:latin typeface="Aptos"/>
              </a:rPr>
              <a:t>AI is never asked to reproduce the analytics stack or fabricate values.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566928" y="6528816"/>
            <a:ext cx="11064240" cy="0"/>
          </a:xfrm>
          <a:prstGeom prst="line">
            <a:avLst/>
          </a:prstGeom>
          <a:ln w="8890">
            <a:solidFill>
              <a:srgbClr val="233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566928" y="6574536"/>
            <a:ext cx="5029200" cy="1463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670" b="1">
                <a:solidFill>
                  <a:srgbClr val="5C6D7E"/>
                </a:solidFill>
                <a:latin typeface="Consolas"/>
              </a:rPr>
              <a:t>NEXUS  /  TELECOM NETWORK ANALYTICS</a:t>
            </a:r>
          </a:p>
        </p:txBody>
      </p:sp>
      <p:sp>
        <p:nvSpPr>
          <p:cNvPr id="140" name="Shape 16">
            <a:extLst>
              <a:ext uri="{FF2B5EF4-FFF2-40B4-BE49-F238E27FC236}">
                <a16:creationId xmlns:a16="http://schemas.microsoft.com/office/drawing/2014/main" id="{7D003322-67AC-E296-0119-2EFFDF7D6B71}"/>
              </a:ext>
            </a:extLst>
          </p:cNvPr>
          <p:cNvSpPr/>
          <p:nvPr/>
        </p:nvSpPr>
        <p:spPr>
          <a:xfrm>
            <a:off x="502920" y="1691640"/>
            <a:ext cx="1378523" cy="2331720"/>
          </a:xfrm>
          <a:prstGeom prst="roundRect">
            <a:avLst>
              <a:gd name="adj" fmla="val 5307"/>
            </a:avLst>
          </a:prstGeom>
          <a:solidFill>
            <a:srgbClr val="DFF0E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42" name="Shape 17">
            <a:extLst>
              <a:ext uri="{FF2B5EF4-FFF2-40B4-BE49-F238E27FC236}">
                <a16:creationId xmlns:a16="http://schemas.microsoft.com/office/drawing/2014/main" id="{1BA6262C-9F77-C77A-A6F4-C74D9414316E}"/>
              </a:ext>
            </a:extLst>
          </p:cNvPr>
          <p:cNvSpPr/>
          <p:nvPr/>
        </p:nvSpPr>
        <p:spPr>
          <a:xfrm>
            <a:off x="936150" y="1837944"/>
            <a:ext cx="512064" cy="512064"/>
          </a:xfrm>
          <a:prstGeom prst="ellipse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144" name="Image 0" descr="/home/claude/icons/cloud_0E7C86.png">
            <a:extLst>
              <a:ext uri="{FF2B5EF4-FFF2-40B4-BE49-F238E27FC236}">
                <a16:creationId xmlns:a16="http://schemas.microsoft.com/office/drawing/2014/main" id="{AC88887C-2879-15D8-1CB0-038F75A29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045" y="1960839"/>
            <a:ext cx="266273" cy="266273"/>
          </a:xfrm>
          <a:prstGeom prst="rect">
            <a:avLst/>
          </a:prstGeom>
        </p:spPr>
      </p:pic>
      <p:sp>
        <p:nvSpPr>
          <p:cNvPr id="146" name="Text 18">
            <a:extLst>
              <a:ext uri="{FF2B5EF4-FFF2-40B4-BE49-F238E27FC236}">
                <a16:creationId xmlns:a16="http://schemas.microsoft.com/office/drawing/2014/main" id="{88330966-D2EB-77F7-DF2F-894355C60FEF}"/>
              </a:ext>
            </a:extLst>
          </p:cNvPr>
          <p:cNvSpPr txBox="1"/>
          <p:nvPr/>
        </p:nvSpPr>
        <p:spPr>
          <a:xfrm>
            <a:off x="576072" y="2404872"/>
            <a:ext cx="1232219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&amp; Raw Zone</a:t>
            </a:r>
            <a:endParaRPr lang="en-US" sz="1150" dirty="0"/>
          </a:p>
        </p:txBody>
      </p:sp>
      <p:sp>
        <p:nvSpPr>
          <p:cNvPr id="148" name="Text 19">
            <a:extLst>
              <a:ext uri="{FF2B5EF4-FFF2-40B4-BE49-F238E27FC236}">
                <a16:creationId xmlns:a16="http://schemas.microsoft.com/office/drawing/2014/main" id="{3CFA2BD9-A50C-E9D4-E723-32E1201BE431}"/>
              </a:ext>
            </a:extLst>
          </p:cNvPr>
          <p:cNvSpPr txBox="1"/>
          <p:nvPr/>
        </p:nvSpPr>
        <p:spPr>
          <a:xfrm>
            <a:off x="576072" y="2862072"/>
            <a:ext cx="1232219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Milan activity CSVs + static grid GeoJSON reference</a:t>
            </a:r>
            <a:endParaRPr lang="en-US" sz="900" dirty="0"/>
          </a:p>
        </p:txBody>
      </p:sp>
      <p:sp>
        <p:nvSpPr>
          <p:cNvPr id="150" name="Shape 20">
            <a:extLst>
              <a:ext uri="{FF2B5EF4-FFF2-40B4-BE49-F238E27FC236}">
                <a16:creationId xmlns:a16="http://schemas.microsoft.com/office/drawing/2014/main" id="{2225F838-6B1E-C5FB-A6E9-579FAB496CE9}"/>
              </a:ext>
            </a:extLst>
          </p:cNvPr>
          <p:cNvSpPr/>
          <p:nvPr/>
        </p:nvSpPr>
        <p:spPr>
          <a:xfrm>
            <a:off x="1899731" y="2775204"/>
            <a:ext cx="219456" cy="164592"/>
          </a:xfrm>
          <a:prstGeom prst="rightArrow">
            <a:avLst/>
          </a:prstGeom>
          <a:solidFill>
            <a:srgbClr val="C7D0DE"/>
          </a:solidFill>
          <a:ln/>
        </p:spPr>
      </p:sp>
      <p:sp>
        <p:nvSpPr>
          <p:cNvPr id="152" name="Shape 21">
            <a:extLst>
              <a:ext uri="{FF2B5EF4-FFF2-40B4-BE49-F238E27FC236}">
                <a16:creationId xmlns:a16="http://schemas.microsoft.com/office/drawing/2014/main" id="{C58A518C-FE02-623A-1074-AF800A1BB1F1}"/>
              </a:ext>
            </a:extLst>
          </p:cNvPr>
          <p:cNvSpPr/>
          <p:nvPr/>
        </p:nvSpPr>
        <p:spPr>
          <a:xfrm>
            <a:off x="2137475" y="1691640"/>
            <a:ext cx="1378523" cy="2331720"/>
          </a:xfrm>
          <a:prstGeom prst="roundRect">
            <a:avLst>
              <a:gd name="adj" fmla="val 5307"/>
            </a:avLst>
          </a:prstGeom>
          <a:solidFill>
            <a:srgbClr val="E7EAF3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54" name="Shape 22">
            <a:extLst>
              <a:ext uri="{FF2B5EF4-FFF2-40B4-BE49-F238E27FC236}">
                <a16:creationId xmlns:a16="http://schemas.microsoft.com/office/drawing/2014/main" id="{4EBF30B8-3104-1B52-7EB6-658EEC861EE0}"/>
              </a:ext>
            </a:extLst>
          </p:cNvPr>
          <p:cNvSpPr/>
          <p:nvPr/>
        </p:nvSpPr>
        <p:spPr>
          <a:xfrm>
            <a:off x="2570705" y="1837944"/>
            <a:ext cx="512064" cy="512064"/>
          </a:xfrm>
          <a:prstGeom prst="ellipse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156" name="Image 1" descr="/home/claude/icons/cpu_1B2A4A.png">
            <a:extLst>
              <a:ext uri="{FF2B5EF4-FFF2-40B4-BE49-F238E27FC236}">
                <a16:creationId xmlns:a16="http://schemas.microsoft.com/office/drawing/2014/main" id="{75802CC4-2851-66B8-57BA-19279428A6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3600" y="1960839"/>
            <a:ext cx="266273" cy="266273"/>
          </a:xfrm>
          <a:prstGeom prst="rect">
            <a:avLst/>
          </a:prstGeom>
        </p:spPr>
      </p:pic>
      <p:sp>
        <p:nvSpPr>
          <p:cNvPr id="158" name="Text 23">
            <a:extLst>
              <a:ext uri="{FF2B5EF4-FFF2-40B4-BE49-F238E27FC236}">
                <a16:creationId xmlns:a16="http://schemas.microsoft.com/office/drawing/2014/main" id="{98D66E86-61F8-4F18-FC58-BE9E38CE34B3}"/>
              </a:ext>
            </a:extLst>
          </p:cNvPr>
          <p:cNvSpPr txBox="1"/>
          <p:nvPr/>
        </p:nvSpPr>
        <p:spPr>
          <a:xfrm>
            <a:off x="2210627" y="2404872"/>
            <a:ext cx="1232219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Processing</a:t>
            </a:r>
            <a:endParaRPr lang="en-US" sz="1150" dirty="0"/>
          </a:p>
        </p:txBody>
      </p:sp>
      <p:sp>
        <p:nvSpPr>
          <p:cNvPr id="160" name="Text 24">
            <a:extLst>
              <a:ext uri="{FF2B5EF4-FFF2-40B4-BE49-F238E27FC236}">
                <a16:creationId xmlns:a16="http://schemas.microsoft.com/office/drawing/2014/main" id="{2BAE84A2-97A4-26F0-D771-8BE8EFC0560F}"/>
              </a:ext>
            </a:extLst>
          </p:cNvPr>
          <p:cNvSpPr txBox="1"/>
          <p:nvPr/>
        </p:nvSpPr>
        <p:spPr>
          <a:xfrm>
            <a:off x="2210627" y="2862072"/>
            <a:ext cx="1232219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standardize, aggregate to grid / hour, enrich with geometry</a:t>
            </a:r>
            <a:endParaRPr lang="en-US" sz="900" dirty="0"/>
          </a:p>
        </p:txBody>
      </p:sp>
      <p:sp>
        <p:nvSpPr>
          <p:cNvPr id="162" name="Shape 25">
            <a:extLst>
              <a:ext uri="{FF2B5EF4-FFF2-40B4-BE49-F238E27FC236}">
                <a16:creationId xmlns:a16="http://schemas.microsoft.com/office/drawing/2014/main" id="{6F4B1506-080A-0CB9-9231-786EB4E20310}"/>
              </a:ext>
            </a:extLst>
          </p:cNvPr>
          <p:cNvSpPr/>
          <p:nvPr/>
        </p:nvSpPr>
        <p:spPr>
          <a:xfrm>
            <a:off x="3534287" y="2775204"/>
            <a:ext cx="219456" cy="164592"/>
          </a:xfrm>
          <a:prstGeom prst="rightArrow">
            <a:avLst/>
          </a:prstGeom>
          <a:solidFill>
            <a:srgbClr val="C7D0DE"/>
          </a:solidFill>
          <a:ln/>
        </p:spPr>
      </p:sp>
      <p:sp>
        <p:nvSpPr>
          <p:cNvPr id="164" name="Shape 26">
            <a:extLst>
              <a:ext uri="{FF2B5EF4-FFF2-40B4-BE49-F238E27FC236}">
                <a16:creationId xmlns:a16="http://schemas.microsoft.com/office/drawing/2014/main" id="{714ACA20-C189-FDBD-10D2-4BE9B197B3C3}"/>
              </a:ext>
            </a:extLst>
          </p:cNvPr>
          <p:cNvSpPr/>
          <p:nvPr/>
        </p:nvSpPr>
        <p:spPr>
          <a:xfrm>
            <a:off x="3772031" y="1691640"/>
            <a:ext cx="1378523" cy="2331720"/>
          </a:xfrm>
          <a:prstGeom prst="roundRect">
            <a:avLst>
              <a:gd name="adj" fmla="val 5307"/>
            </a:avLst>
          </a:prstGeom>
          <a:solidFill>
            <a:srgbClr val="DFF0E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66" name="Shape 27">
            <a:extLst>
              <a:ext uri="{FF2B5EF4-FFF2-40B4-BE49-F238E27FC236}">
                <a16:creationId xmlns:a16="http://schemas.microsoft.com/office/drawing/2014/main" id="{BB0249B5-512F-9E5A-CA9D-CE34906ED35E}"/>
              </a:ext>
            </a:extLst>
          </p:cNvPr>
          <p:cNvSpPr/>
          <p:nvPr/>
        </p:nvSpPr>
        <p:spPr>
          <a:xfrm>
            <a:off x="4205260" y="1837944"/>
            <a:ext cx="512064" cy="512064"/>
          </a:xfrm>
          <a:prstGeom prst="ellipse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168" name="Image 2" descr="/home/claude/icons/database_0E7C86.png">
            <a:extLst>
              <a:ext uri="{FF2B5EF4-FFF2-40B4-BE49-F238E27FC236}">
                <a16:creationId xmlns:a16="http://schemas.microsoft.com/office/drawing/2014/main" id="{E93031ED-B53F-4369-A656-6CA9922782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8156" y="1960839"/>
            <a:ext cx="266273" cy="266273"/>
          </a:xfrm>
          <a:prstGeom prst="rect">
            <a:avLst/>
          </a:prstGeom>
        </p:spPr>
      </p:pic>
      <p:sp>
        <p:nvSpPr>
          <p:cNvPr id="170" name="Text 28">
            <a:extLst>
              <a:ext uri="{FF2B5EF4-FFF2-40B4-BE49-F238E27FC236}">
                <a16:creationId xmlns:a16="http://schemas.microsoft.com/office/drawing/2014/main" id="{539CB118-07A4-0BEC-B4DF-C95160208FD7}"/>
              </a:ext>
            </a:extLst>
          </p:cNvPr>
          <p:cNvSpPr txBox="1"/>
          <p:nvPr/>
        </p:nvSpPr>
        <p:spPr>
          <a:xfrm>
            <a:off x="3845183" y="2404872"/>
            <a:ext cx="1232219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Warehouse</a:t>
            </a:r>
            <a:endParaRPr lang="en-US" sz="1150" dirty="0"/>
          </a:p>
        </p:txBody>
      </p:sp>
      <p:sp>
        <p:nvSpPr>
          <p:cNvPr id="172" name="Text 29">
            <a:extLst>
              <a:ext uri="{FF2B5EF4-FFF2-40B4-BE49-F238E27FC236}">
                <a16:creationId xmlns:a16="http://schemas.microsoft.com/office/drawing/2014/main" id="{4F8312F2-5C32-01F2-6E08-A1EFE75D6CDD}"/>
              </a:ext>
            </a:extLst>
          </p:cNvPr>
          <p:cNvSpPr txBox="1"/>
          <p:nvPr/>
        </p:nvSpPr>
        <p:spPr>
          <a:xfrm>
            <a:off x="3845183" y="2862072"/>
            <a:ext cx="1232219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fact_network_activity, dim_grid, dim_time</a:t>
            </a:r>
            <a:endParaRPr lang="en-US" sz="900" dirty="0"/>
          </a:p>
        </p:txBody>
      </p:sp>
      <p:sp>
        <p:nvSpPr>
          <p:cNvPr id="174" name="Shape 30">
            <a:extLst>
              <a:ext uri="{FF2B5EF4-FFF2-40B4-BE49-F238E27FC236}">
                <a16:creationId xmlns:a16="http://schemas.microsoft.com/office/drawing/2014/main" id="{868430C2-1729-630D-64BE-473D86DC4726}"/>
              </a:ext>
            </a:extLst>
          </p:cNvPr>
          <p:cNvSpPr/>
          <p:nvPr/>
        </p:nvSpPr>
        <p:spPr>
          <a:xfrm>
            <a:off x="5168842" y="2775204"/>
            <a:ext cx="219456" cy="164592"/>
          </a:xfrm>
          <a:prstGeom prst="rightArrow">
            <a:avLst/>
          </a:prstGeom>
          <a:solidFill>
            <a:srgbClr val="C7D0DE"/>
          </a:solidFill>
          <a:ln/>
        </p:spPr>
      </p:sp>
      <p:sp>
        <p:nvSpPr>
          <p:cNvPr id="176" name="Shape 31">
            <a:extLst>
              <a:ext uri="{FF2B5EF4-FFF2-40B4-BE49-F238E27FC236}">
                <a16:creationId xmlns:a16="http://schemas.microsoft.com/office/drawing/2014/main" id="{633A6A28-8DB3-2A2D-C9C4-6C104EADBF55}"/>
              </a:ext>
            </a:extLst>
          </p:cNvPr>
          <p:cNvSpPr/>
          <p:nvPr/>
        </p:nvSpPr>
        <p:spPr>
          <a:xfrm>
            <a:off x="5406586" y="1691640"/>
            <a:ext cx="1378523" cy="2331720"/>
          </a:xfrm>
          <a:prstGeom prst="roundRect">
            <a:avLst>
              <a:gd name="adj" fmla="val 5307"/>
            </a:avLst>
          </a:prstGeom>
          <a:solidFill>
            <a:srgbClr val="E7EAF3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78" name="Shape 32">
            <a:extLst>
              <a:ext uri="{FF2B5EF4-FFF2-40B4-BE49-F238E27FC236}">
                <a16:creationId xmlns:a16="http://schemas.microsoft.com/office/drawing/2014/main" id="{5DD36795-6091-E632-202A-082A7F432F06}"/>
              </a:ext>
            </a:extLst>
          </p:cNvPr>
          <p:cNvSpPr/>
          <p:nvPr/>
        </p:nvSpPr>
        <p:spPr>
          <a:xfrm>
            <a:off x="5839816" y="1837944"/>
            <a:ext cx="512064" cy="512064"/>
          </a:xfrm>
          <a:prstGeom prst="ellipse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180" name="Image 3" descr="/home/claude/icons/trendingup_1B2A4A.png">
            <a:extLst>
              <a:ext uri="{FF2B5EF4-FFF2-40B4-BE49-F238E27FC236}">
                <a16:creationId xmlns:a16="http://schemas.microsoft.com/office/drawing/2014/main" id="{244788EF-D99A-A8F3-D5E6-9B48D94F4A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2711" y="1960839"/>
            <a:ext cx="266273" cy="266273"/>
          </a:xfrm>
          <a:prstGeom prst="rect">
            <a:avLst/>
          </a:prstGeom>
        </p:spPr>
      </p:pic>
      <p:sp>
        <p:nvSpPr>
          <p:cNvPr id="182" name="Text 33">
            <a:extLst>
              <a:ext uri="{FF2B5EF4-FFF2-40B4-BE49-F238E27FC236}">
                <a16:creationId xmlns:a16="http://schemas.microsoft.com/office/drawing/2014/main" id="{05CD6B74-107E-E65A-535C-FA9F58F13A2B}"/>
              </a:ext>
            </a:extLst>
          </p:cNvPr>
          <p:cNvSpPr txBox="1"/>
          <p:nvPr/>
        </p:nvSpPr>
        <p:spPr>
          <a:xfrm>
            <a:off x="5479738" y="2404872"/>
            <a:ext cx="1232219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&amp; ML Scoring</a:t>
            </a:r>
            <a:endParaRPr lang="en-US" sz="1150" dirty="0"/>
          </a:p>
        </p:txBody>
      </p:sp>
      <p:sp>
        <p:nvSpPr>
          <p:cNvPr id="184" name="Text 34">
            <a:extLst>
              <a:ext uri="{FF2B5EF4-FFF2-40B4-BE49-F238E27FC236}">
                <a16:creationId xmlns:a16="http://schemas.microsoft.com/office/drawing/2014/main" id="{A3DBD7A0-F712-88E8-8925-F51B7AACDDF3}"/>
              </a:ext>
            </a:extLst>
          </p:cNvPr>
          <p:cNvSpPr txBox="1"/>
          <p:nvPr/>
        </p:nvSpPr>
        <p:spPr>
          <a:xfrm>
            <a:off x="5479738" y="2862072"/>
            <a:ext cx="1232219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Trailing-window features, risk classifier, anomaly baseline</a:t>
            </a:r>
            <a:endParaRPr lang="en-US" sz="900" dirty="0"/>
          </a:p>
        </p:txBody>
      </p:sp>
      <p:sp>
        <p:nvSpPr>
          <p:cNvPr id="186" name="Shape 35">
            <a:extLst>
              <a:ext uri="{FF2B5EF4-FFF2-40B4-BE49-F238E27FC236}">
                <a16:creationId xmlns:a16="http://schemas.microsoft.com/office/drawing/2014/main" id="{15220E87-3292-63FA-93FE-1646A5018DC6}"/>
              </a:ext>
            </a:extLst>
          </p:cNvPr>
          <p:cNvSpPr/>
          <p:nvPr/>
        </p:nvSpPr>
        <p:spPr>
          <a:xfrm>
            <a:off x="6803397" y="2775204"/>
            <a:ext cx="219456" cy="164592"/>
          </a:xfrm>
          <a:prstGeom prst="rightArrow">
            <a:avLst/>
          </a:prstGeom>
          <a:solidFill>
            <a:srgbClr val="C7D0DE"/>
          </a:solidFill>
          <a:ln/>
        </p:spPr>
      </p:sp>
      <p:sp>
        <p:nvSpPr>
          <p:cNvPr id="188" name="Shape 36">
            <a:extLst>
              <a:ext uri="{FF2B5EF4-FFF2-40B4-BE49-F238E27FC236}">
                <a16:creationId xmlns:a16="http://schemas.microsoft.com/office/drawing/2014/main" id="{A0BEB3F4-EB51-E943-291F-70FCD84DA03D}"/>
              </a:ext>
            </a:extLst>
          </p:cNvPr>
          <p:cNvSpPr/>
          <p:nvPr/>
        </p:nvSpPr>
        <p:spPr>
          <a:xfrm>
            <a:off x="7041141" y="1691640"/>
            <a:ext cx="1378523" cy="2331720"/>
          </a:xfrm>
          <a:prstGeom prst="roundRect">
            <a:avLst>
              <a:gd name="adj" fmla="val 5307"/>
            </a:avLst>
          </a:prstGeom>
          <a:solidFill>
            <a:srgbClr val="DFF0E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90" name="Shape 37">
            <a:extLst>
              <a:ext uri="{FF2B5EF4-FFF2-40B4-BE49-F238E27FC236}">
                <a16:creationId xmlns:a16="http://schemas.microsoft.com/office/drawing/2014/main" id="{4D29E99C-B995-E240-7B8E-CC66FEA235B7}"/>
              </a:ext>
            </a:extLst>
          </p:cNvPr>
          <p:cNvSpPr/>
          <p:nvPr/>
        </p:nvSpPr>
        <p:spPr>
          <a:xfrm>
            <a:off x="7474371" y="1837944"/>
            <a:ext cx="512064" cy="512064"/>
          </a:xfrm>
          <a:prstGeom prst="ellipse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192" name="Image 4" descr="/home/claude/icons/server_0E7C86.png">
            <a:extLst>
              <a:ext uri="{FF2B5EF4-FFF2-40B4-BE49-F238E27FC236}">
                <a16:creationId xmlns:a16="http://schemas.microsoft.com/office/drawing/2014/main" id="{FDC6652F-5E40-465A-5B9F-276B0F66E3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7266" y="1960839"/>
            <a:ext cx="266273" cy="266273"/>
          </a:xfrm>
          <a:prstGeom prst="rect">
            <a:avLst/>
          </a:prstGeom>
        </p:spPr>
      </p:pic>
      <p:sp>
        <p:nvSpPr>
          <p:cNvPr id="194" name="Text 38">
            <a:extLst>
              <a:ext uri="{FF2B5EF4-FFF2-40B4-BE49-F238E27FC236}">
                <a16:creationId xmlns:a16="http://schemas.microsoft.com/office/drawing/2014/main" id="{4691A458-1645-F040-5CCE-546C616F4A3E}"/>
              </a:ext>
            </a:extLst>
          </p:cNvPr>
          <p:cNvSpPr txBox="1"/>
          <p:nvPr/>
        </p:nvSpPr>
        <p:spPr>
          <a:xfrm>
            <a:off x="7114293" y="2404872"/>
            <a:ext cx="1232219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Service Layer</a:t>
            </a:r>
            <a:endParaRPr lang="en-US" sz="1150" dirty="0"/>
          </a:p>
        </p:txBody>
      </p:sp>
      <p:sp>
        <p:nvSpPr>
          <p:cNvPr id="196" name="Text 39">
            <a:extLst>
              <a:ext uri="{FF2B5EF4-FFF2-40B4-BE49-F238E27FC236}">
                <a16:creationId xmlns:a16="http://schemas.microsoft.com/office/drawing/2014/main" id="{CE092D8A-614E-D97F-31D5-8978D6496379}"/>
              </a:ext>
            </a:extLst>
          </p:cNvPr>
          <p:cNvSpPr txBox="1"/>
          <p:nvPr/>
        </p:nvSpPr>
        <p:spPr>
          <a:xfrm>
            <a:off x="7114293" y="2862072"/>
            <a:ext cx="1232219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Network, feature, prediction &amp; pipeline-status endpoints</a:t>
            </a:r>
            <a:endParaRPr lang="en-US" sz="900" dirty="0"/>
          </a:p>
        </p:txBody>
      </p:sp>
      <p:sp>
        <p:nvSpPr>
          <p:cNvPr id="198" name="Shape 40">
            <a:extLst>
              <a:ext uri="{FF2B5EF4-FFF2-40B4-BE49-F238E27FC236}">
                <a16:creationId xmlns:a16="http://schemas.microsoft.com/office/drawing/2014/main" id="{21C28F8B-B226-7A6A-E94D-7BAE80613731}"/>
              </a:ext>
            </a:extLst>
          </p:cNvPr>
          <p:cNvSpPr/>
          <p:nvPr/>
        </p:nvSpPr>
        <p:spPr>
          <a:xfrm>
            <a:off x="8437953" y="2775204"/>
            <a:ext cx="219456" cy="164592"/>
          </a:xfrm>
          <a:prstGeom prst="rightArrow">
            <a:avLst/>
          </a:prstGeom>
          <a:solidFill>
            <a:srgbClr val="C7D0DE"/>
          </a:solidFill>
          <a:ln/>
        </p:spPr>
      </p:sp>
      <p:sp>
        <p:nvSpPr>
          <p:cNvPr id="200" name="Shape 41">
            <a:extLst>
              <a:ext uri="{FF2B5EF4-FFF2-40B4-BE49-F238E27FC236}">
                <a16:creationId xmlns:a16="http://schemas.microsoft.com/office/drawing/2014/main" id="{AA60935C-4E0D-0B74-42FE-ED5BE5929629}"/>
              </a:ext>
            </a:extLst>
          </p:cNvPr>
          <p:cNvSpPr/>
          <p:nvPr/>
        </p:nvSpPr>
        <p:spPr>
          <a:xfrm>
            <a:off x="8675697" y="1691640"/>
            <a:ext cx="1378523" cy="2331720"/>
          </a:xfrm>
          <a:prstGeom prst="roundRect">
            <a:avLst>
              <a:gd name="adj" fmla="val 5307"/>
            </a:avLst>
          </a:prstGeom>
          <a:solidFill>
            <a:srgbClr val="E7EAF3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02" name="Shape 42">
            <a:extLst>
              <a:ext uri="{FF2B5EF4-FFF2-40B4-BE49-F238E27FC236}">
                <a16:creationId xmlns:a16="http://schemas.microsoft.com/office/drawing/2014/main" id="{C8AB8674-0DB6-A244-EF13-236C2FF297C4}"/>
              </a:ext>
            </a:extLst>
          </p:cNvPr>
          <p:cNvSpPr/>
          <p:nvPr/>
        </p:nvSpPr>
        <p:spPr>
          <a:xfrm>
            <a:off x="9108926" y="1837944"/>
            <a:ext cx="512064" cy="512064"/>
          </a:xfrm>
          <a:prstGeom prst="ellipse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204" name="Image 5" descr="/home/claude/icons/monitor_1B2A4A.png">
            <a:extLst>
              <a:ext uri="{FF2B5EF4-FFF2-40B4-BE49-F238E27FC236}">
                <a16:creationId xmlns:a16="http://schemas.microsoft.com/office/drawing/2014/main" id="{71DED3F4-4854-FFE9-83EE-A5F4DBBC0C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1822" y="1960839"/>
            <a:ext cx="266273" cy="266273"/>
          </a:xfrm>
          <a:prstGeom prst="rect">
            <a:avLst/>
          </a:prstGeom>
        </p:spPr>
      </p:pic>
      <p:sp>
        <p:nvSpPr>
          <p:cNvPr id="206" name="Text 43">
            <a:extLst>
              <a:ext uri="{FF2B5EF4-FFF2-40B4-BE49-F238E27FC236}">
                <a16:creationId xmlns:a16="http://schemas.microsoft.com/office/drawing/2014/main" id="{A503BBCF-0856-D90D-E0CE-FAE5D2C3A4BD}"/>
              </a:ext>
            </a:extLst>
          </p:cNvPr>
          <p:cNvSpPr txBox="1"/>
          <p:nvPr/>
        </p:nvSpPr>
        <p:spPr>
          <a:xfrm>
            <a:off x="8748849" y="2404872"/>
            <a:ext cx="1232219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NOC Dashboard</a:t>
            </a:r>
            <a:endParaRPr lang="en-US" sz="1150" dirty="0"/>
          </a:p>
        </p:txBody>
      </p:sp>
      <p:sp>
        <p:nvSpPr>
          <p:cNvPr id="208" name="Text 44">
            <a:extLst>
              <a:ext uri="{FF2B5EF4-FFF2-40B4-BE49-F238E27FC236}">
                <a16:creationId xmlns:a16="http://schemas.microsoft.com/office/drawing/2014/main" id="{2AC6CEC4-6C2D-AF31-9630-94A9D6B28F7A}"/>
              </a:ext>
            </a:extLst>
          </p:cNvPr>
          <p:cNvSpPr txBox="1"/>
          <p:nvPr/>
        </p:nvSpPr>
        <p:spPr>
          <a:xfrm>
            <a:off x="8748849" y="2862072"/>
            <a:ext cx="1232219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grid explorer, Milan map, predictive risk view</a:t>
            </a:r>
            <a:endParaRPr lang="en-US" sz="900" dirty="0"/>
          </a:p>
        </p:txBody>
      </p:sp>
      <p:sp>
        <p:nvSpPr>
          <p:cNvPr id="210" name="Shape 45">
            <a:extLst>
              <a:ext uri="{FF2B5EF4-FFF2-40B4-BE49-F238E27FC236}">
                <a16:creationId xmlns:a16="http://schemas.microsoft.com/office/drawing/2014/main" id="{7D7B39C5-E31D-94A5-CEE5-255AB0DD35E6}"/>
              </a:ext>
            </a:extLst>
          </p:cNvPr>
          <p:cNvSpPr/>
          <p:nvPr/>
        </p:nvSpPr>
        <p:spPr>
          <a:xfrm>
            <a:off x="10072508" y="2775204"/>
            <a:ext cx="219456" cy="164592"/>
          </a:xfrm>
          <a:prstGeom prst="rightArrow">
            <a:avLst/>
          </a:prstGeom>
          <a:solidFill>
            <a:srgbClr val="C7D0DE"/>
          </a:solidFill>
          <a:ln/>
        </p:spPr>
      </p:sp>
      <p:sp>
        <p:nvSpPr>
          <p:cNvPr id="212" name="Shape 46">
            <a:extLst>
              <a:ext uri="{FF2B5EF4-FFF2-40B4-BE49-F238E27FC236}">
                <a16:creationId xmlns:a16="http://schemas.microsoft.com/office/drawing/2014/main" id="{0BD9AE39-D470-2222-68F3-A8B1A424B54E}"/>
              </a:ext>
            </a:extLst>
          </p:cNvPr>
          <p:cNvSpPr/>
          <p:nvPr/>
        </p:nvSpPr>
        <p:spPr>
          <a:xfrm>
            <a:off x="10310252" y="1691640"/>
            <a:ext cx="1378523" cy="2331720"/>
          </a:xfrm>
          <a:prstGeom prst="roundRect">
            <a:avLst>
              <a:gd name="adj" fmla="val 5307"/>
            </a:avLst>
          </a:prstGeom>
          <a:solidFill>
            <a:srgbClr val="FDF0D9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14" name="Shape 47">
            <a:extLst>
              <a:ext uri="{FF2B5EF4-FFF2-40B4-BE49-F238E27FC236}">
                <a16:creationId xmlns:a16="http://schemas.microsoft.com/office/drawing/2014/main" id="{4193A93D-B155-C108-CBF1-C992E12BC6B7}"/>
              </a:ext>
            </a:extLst>
          </p:cNvPr>
          <p:cNvSpPr/>
          <p:nvPr/>
        </p:nvSpPr>
        <p:spPr>
          <a:xfrm>
            <a:off x="10743482" y="1837944"/>
            <a:ext cx="512064" cy="512064"/>
          </a:xfrm>
          <a:prstGeom prst="ellipse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216" name="Image 6" descr="/home/claude/icons/message_B5791F.png">
            <a:extLst>
              <a:ext uri="{FF2B5EF4-FFF2-40B4-BE49-F238E27FC236}">
                <a16:creationId xmlns:a16="http://schemas.microsoft.com/office/drawing/2014/main" id="{89729DC6-5CF1-3325-DFCD-D2C8B3E5A07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66377" y="1960839"/>
            <a:ext cx="266273" cy="266273"/>
          </a:xfrm>
          <a:prstGeom prst="rect">
            <a:avLst/>
          </a:prstGeom>
        </p:spPr>
      </p:pic>
      <p:sp>
        <p:nvSpPr>
          <p:cNvPr id="218" name="Text 48">
            <a:extLst>
              <a:ext uri="{FF2B5EF4-FFF2-40B4-BE49-F238E27FC236}">
                <a16:creationId xmlns:a16="http://schemas.microsoft.com/office/drawing/2014/main" id="{91F2C734-FC5A-E91F-EFA0-5248C7D0C0F3}"/>
              </a:ext>
            </a:extLst>
          </p:cNvPr>
          <p:cNvSpPr txBox="1"/>
          <p:nvPr/>
        </p:nvSpPr>
        <p:spPr>
          <a:xfrm>
            <a:off x="10383404" y="2404872"/>
            <a:ext cx="1232219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NOC Copilot</a:t>
            </a:r>
            <a:endParaRPr lang="en-US" sz="1150" dirty="0"/>
          </a:p>
        </p:txBody>
      </p:sp>
      <p:sp>
        <p:nvSpPr>
          <p:cNvPr id="220" name="Text 49">
            <a:extLst>
              <a:ext uri="{FF2B5EF4-FFF2-40B4-BE49-F238E27FC236}">
                <a16:creationId xmlns:a16="http://schemas.microsoft.com/office/drawing/2014/main" id="{6D8525C6-95F4-EACC-D75D-EC5AB095AC8D}"/>
              </a:ext>
            </a:extLst>
          </p:cNvPr>
          <p:cNvSpPr txBox="1"/>
          <p:nvPr/>
        </p:nvSpPr>
        <p:spPr>
          <a:xfrm>
            <a:off x="10383404" y="2862072"/>
            <a:ext cx="1232219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use, MCP, headless investigation agent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457200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04 / DATA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1065"/>
            <a:ext cx="10789920" cy="4754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700" b="1">
                <a:solidFill>
                  <a:srgbClr val="E7EDF3"/>
                </a:solidFill>
                <a:latin typeface="Aptos"/>
              </a:rPr>
              <a:t>From raw activity to analytics-ready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61288"/>
            <a:ext cx="10789920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120" b="0">
                <a:solidFill>
                  <a:srgbClr val="8B9DB1"/>
                </a:solidFill>
                <a:latin typeface="Aptos"/>
              </a:rPr>
              <a:t>The pipeline establishes the data contract every downstream layer relies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800" b="1">
                <a:solidFill>
                  <a:srgbClr val="5C6D7E"/>
                </a:solidFill>
                <a:latin typeface="Consola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1600200" cy="114300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132588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800" b="1">
                <a:solidFill>
                  <a:srgbClr val="39D98A"/>
                </a:solidFill>
                <a:latin typeface="Consolas"/>
              </a:rPr>
              <a:t>INGEST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1325880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900" b="1">
                <a:solidFill>
                  <a:srgbClr val="E7EDF3"/>
                </a:solidFill>
                <a:latin typeface="Aptos"/>
              </a:rPr>
              <a:t>Daily Milan CSVs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94560" y="2395728"/>
            <a:ext cx="210312" cy="0"/>
          </a:xfrm>
          <a:prstGeom prst="line">
            <a:avLst/>
          </a:prstGeom>
          <a:ln w="16510">
            <a:solidFill>
              <a:srgbClr val="39D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2326917" y="2395728"/>
            <a:ext cx="77955" cy="47794"/>
          </a:xfrm>
          <a:prstGeom prst="line">
            <a:avLst/>
          </a:prstGeom>
          <a:ln w="16510">
            <a:solidFill>
              <a:srgbClr val="39D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2326917" y="2347933"/>
            <a:ext cx="77955" cy="47795"/>
          </a:xfrm>
          <a:prstGeom prst="line">
            <a:avLst/>
          </a:prstGeom>
          <a:ln w="16510">
            <a:solidFill>
              <a:srgbClr val="39D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41448" y="1828800"/>
            <a:ext cx="1600200" cy="114300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78608" y="2029968"/>
            <a:ext cx="132588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800" b="1">
                <a:solidFill>
                  <a:srgbClr val="39D98A"/>
                </a:solidFill>
                <a:latin typeface="Consolas"/>
              </a:rPr>
              <a:t>VALIDATE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78608" y="2331720"/>
            <a:ext cx="1325880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900" b="1">
                <a:solidFill>
                  <a:srgbClr val="E7EDF3"/>
                </a:solidFill>
                <a:latin typeface="Aptos"/>
              </a:rPr>
              <a:t>Schema + file scope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41648" y="2395728"/>
            <a:ext cx="210312" cy="0"/>
          </a:xfrm>
          <a:prstGeom prst="line">
            <a:avLst/>
          </a:prstGeom>
          <a:ln w="16510">
            <a:solidFill>
              <a:srgbClr val="39D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4174005" y="2395728"/>
            <a:ext cx="77955" cy="47794"/>
          </a:xfrm>
          <a:prstGeom prst="line">
            <a:avLst/>
          </a:prstGeom>
          <a:ln w="16510">
            <a:solidFill>
              <a:srgbClr val="39D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 flipV="1">
            <a:off x="4174005" y="2347933"/>
            <a:ext cx="77955" cy="47795"/>
          </a:xfrm>
          <a:prstGeom prst="line">
            <a:avLst/>
          </a:prstGeom>
          <a:ln w="16510">
            <a:solidFill>
              <a:srgbClr val="39D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288536" y="1828800"/>
            <a:ext cx="1600200" cy="114300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25696" y="2029968"/>
            <a:ext cx="132588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800" b="1">
                <a:solidFill>
                  <a:srgbClr val="4F8CFF"/>
                </a:solidFill>
                <a:latin typeface="Consolas"/>
              </a:rPr>
              <a:t>PROCESS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5696" y="2331720"/>
            <a:ext cx="1325880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900" b="1">
                <a:solidFill>
                  <a:srgbClr val="E7EDF3"/>
                </a:solidFill>
                <a:latin typeface="Aptos"/>
              </a:rPr>
              <a:t>PySpark cleaning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888736" y="2395728"/>
            <a:ext cx="210312" cy="0"/>
          </a:xfrm>
          <a:prstGeom prst="line">
            <a:avLst/>
          </a:prstGeom>
          <a:ln w="16510">
            <a:solidFill>
              <a:srgbClr val="39D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6021093" y="2395728"/>
            <a:ext cx="77955" cy="47794"/>
          </a:xfrm>
          <a:prstGeom prst="line">
            <a:avLst/>
          </a:prstGeom>
          <a:ln w="16510">
            <a:solidFill>
              <a:srgbClr val="39D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6021093" y="2347933"/>
            <a:ext cx="77955" cy="47795"/>
          </a:xfrm>
          <a:prstGeom prst="line">
            <a:avLst/>
          </a:prstGeom>
          <a:ln w="16510">
            <a:solidFill>
              <a:srgbClr val="39D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135624" y="1828800"/>
            <a:ext cx="1600200" cy="114300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72784" y="2029968"/>
            <a:ext cx="132588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800" b="1">
                <a:solidFill>
                  <a:srgbClr val="4F8CFF"/>
                </a:solidFill>
                <a:latin typeface="Consolas"/>
              </a:rPr>
              <a:t>AGGREGATE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2784" y="2331720"/>
            <a:ext cx="1325880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900" b="1">
                <a:solidFill>
                  <a:srgbClr val="E7EDF3"/>
                </a:solidFill>
                <a:latin typeface="Aptos"/>
              </a:rPr>
              <a:t>Grid × hour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735824" y="2395728"/>
            <a:ext cx="210312" cy="0"/>
          </a:xfrm>
          <a:prstGeom prst="line">
            <a:avLst/>
          </a:prstGeom>
          <a:ln w="16510">
            <a:solidFill>
              <a:srgbClr val="39D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7868181" y="2395728"/>
            <a:ext cx="77955" cy="47794"/>
          </a:xfrm>
          <a:prstGeom prst="line">
            <a:avLst/>
          </a:prstGeom>
          <a:ln w="16510">
            <a:solidFill>
              <a:srgbClr val="39D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7868181" y="2347933"/>
            <a:ext cx="77955" cy="47795"/>
          </a:xfrm>
          <a:prstGeom prst="line">
            <a:avLst/>
          </a:prstGeom>
          <a:ln w="16510">
            <a:solidFill>
              <a:srgbClr val="39D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982712" y="1828800"/>
            <a:ext cx="1600200" cy="114300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19872" y="2029968"/>
            <a:ext cx="132588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800" b="1">
                <a:solidFill>
                  <a:srgbClr val="4F8CFF"/>
                </a:solidFill>
                <a:latin typeface="Consolas"/>
              </a:rPr>
              <a:t>ENRICH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19872" y="2331720"/>
            <a:ext cx="1325880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900" b="1">
                <a:solidFill>
                  <a:srgbClr val="E7EDF3"/>
                </a:solidFill>
                <a:latin typeface="Aptos"/>
              </a:rPr>
              <a:t>Milan geometry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582912" y="2395728"/>
            <a:ext cx="210312" cy="0"/>
          </a:xfrm>
          <a:prstGeom prst="line">
            <a:avLst/>
          </a:prstGeom>
          <a:ln w="16510">
            <a:solidFill>
              <a:srgbClr val="39D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9715269" y="2395728"/>
            <a:ext cx="77955" cy="47794"/>
          </a:xfrm>
          <a:prstGeom prst="line">
            <a:avLst/>
          </a:prstGeom>
          <a:ln w="16510">
            <a:solidFill>
              <a:srgbClr val="39D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9715269" y="2347933"/>
            <a:ext cx="77955" cy="47795"/>
          </a:xfrm>
          <a:prstGeom prst="line">
            <a:avLst/>
          </a:prstGeom>
          <a:ln w="16510">
            <a:solidFill>
              <a:srgbClr val="39D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829800" y="1828800"/>
            <a:ext cx="1600200" cy="114300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966960" y="2029968"/>
            <a:ext cx="132588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800" b="1">
                <a:solidFill>
                  <a:srgbClr val="F0B35B"/>
                </a:solidFill>
                <a:latin typeface="Consolas"/>
              </a:rPr>
              <a:t>STORE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66960" y="2331720"/>
            <a:ext cx="1325880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900" b="1">
                <a:solidFill>
                  <a:srgbClr val="E7EDF3"/>
                </a:solidFill>
                <a:latin typeface="Aptos"/>
              </a:rPr>
              <a:t>Parquet + warehouse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3429000"/>
            <a:ext cx="5349240" cy="196596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68680" y="3675887"/>
            <a:ext cx="457200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KEY DATA-GRAIN CONTRACT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4023360"/>
            <a:ext cx="4617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120" b="1">
                <a:solidFill>
                  <a:srgbClr val="39D98A"/>
                </a:solidFill>
                <a:latin typeface="Aptos"/>
              </a:rPr>
              <a:t>▸ </a:t>
            </a:r>
            <a:r>
              <a:rPr sz="1120">
                <a:solidFill>
                  <a:srgbClr val="E7EDF3"/>
                </a:solidFill>
                <a:latin typeface="Aptos"/>
              </a:rPr>
              <a:t>Canonical hourly network activity at grid level.</a:t>
            </a:r>
          </a:p>
          <a:p>
            <a:pPr>
              <a:spcAft>
                <a:spcPts val="700"/>
              </a:spcAft>
            </a:pPr>
            <a:r>
              <a:rPr sz="1120" b="1">
                <a:solidFill>
                  <a:srgbClr val="39D98A"/>
                </a:solidFill>
                <a:latin typeface="Aptos"/>
              </a:rPr>
              <a:t>▸ </a:t>
            </a:r>
            <a:r>
              <a:rPr sz="1120">
                <a:solidFill>
                  <a:srgbClr val="E7EDF3"/>
                </a:solidFill>
                <a:latin typeface="Aptos"/>
              </a:rPr>
              <a:t>Static Milan grid reference with 10,000 cells.</a:t>
            </a:r>
          </a:p>
          <a:p>
            <a:pPr>
              <a:spcAft>
                <a:spcPts val="700"/>
              </a:spcAft>
            </a:pPr>
            <a:r>
              <a:rPr sz="1120" b="1">
                <a:solidFill>
                  <a:srgbClr val="39D98A"/>
                </a:solidFill>
                <a:latin typeface="Aptos"/>
              </a:rPr>
              <a:t>▸ </a:t>
            </a:r>
            <a:r>
              <a:rPr sz="1120">
                <a:solidFill>
                  <a:srgbClr val="E7EDF3"/>
                </a:solidFill>
                <a:latin typeface="Aptos"/>
              </a:rPr>
              <a:t>Shared AS_OF semantics across downstream views.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72200" y="3429000"/>
            <a:ext cx="5394960" cy="196596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46520" y="3675887"/>
            <a:ext cx="457200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F0B35B"/>
                </a:solidFill>
                <a:latin typeface="Consolas"/>
              </a:rPr>
              <a:t>RELIABILITY CONTROLS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4023360"/>
            <a:ext cx="4617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120" b="1">
                <a:solidFill>
                  <a:srgbClr val="F0B35B"/>
                </a:solidFill>
                <a:latin typeface="Aptos"/>
              </a:rPr>
              <a:t>▸ </a:t>
            </a:r>
            <a:r>
              <a:rPr sz="1120">
                <a:solidFill>
                  <a:srgbClr val="E7EDF3"/>
                </a:solidFill>
                <a:latin typeface="Aptos"/>
              </a:rPr>
              <a:t>File-scope protection for Milan inputs.</a:t>
            </a:r>
          </a:p>
          <a:p>
            <a:pPr>
              <a:spcAft>
                <a:spcPts val="700"/>
              </a:spcAft>
            </a:pPr>
            <a:r>
              <a:rPr sz="1120" b="1">
                <a:solidFill>
                  <a:srgbClr val="F0B35B"/>
                </a:solidFill>
                <a:latin typeface="Aptos"/>
              </a:rPr>
              <a:t>▸ </a:t>
            </a:r>
            <a:r>
              <a:rPr sz="1120">
                <a:solidFill>
                  <a:srgbClr val="E7EDF3"/>
                </a:solidFill>
                <a:latin typeface="Aptos"/>
              </a:rPr>
              <a:t>Validation and reproducible processing.</a:t>
            </a:r>
          </a:p>
          <a:p>
            <a:pPr>
              <a:spcAft>
                <a:spcPts val="700"/>
              </a:spcAft>
            </a:pPr>
            <a:r>
              <a:rPr sz="1120" b="1">
                <a:solidFill>
                  <a:srgbClr val="F0B35B"/>
                </a:solidFill>
                <a:latin typeface="Aptos"/>
              </a:rPr>
              <a:t>▸ </a:t>
            </a:r>
            <a:r>
              <a:rPr sz="1120">
                <a:solidFill>
                  <a:srgbClr val="E7EDF3"/>
                </a:solidFill>
                <a:latin typeface="Aptos"/>
              </a:rPr>
              <a:t>Pipeline status exposed to operational consumers.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66928" y="6528816"/>
            <a:ext cx="11064240" cy="0"/>
          </a:xfrm>
          <a:prstGeom prst="line">
            <a:avLst/>
          </a:prstGeom>
          <a:ln w="8890">
            <a:solidFill>
              <a:srgbClr val="233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66928" y="6574536"/>
            <a:ext cx="5029200" cy="1463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670" b="1">
                <a:solidFill>
                  <a:srgbClr val="5C6D7E"/>
                </a:solidFill>
                <a:latin typeface="Consolas"/>
              </a:rPr>
              <a:t>NEXUS  /  TELECOM NETWORK ANALYTICS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457200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05 /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1065"/>
            <a:ext cx="10789920" cy="4754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700" b="1">
                <a:solidFill>
                  <a:srgbClr val="E7EDF3"/>
                </a:solidFill>
                <a:latin typeface="Aptos"/>
              </a:rPr>
              <a:t>Three complementary decision 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61288"/>
            <a:ext cx="10789920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120" b="0">
                <a:solidFill>
                  <a:srgbClr val="8B9DB1"/>
                </a:solidFill>
                <a:latin typeface="Aptos"/>
              </a:rPr>
              <a:t>Rules, historical deviation and ML answer different questions.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800" b="1">
                <a:solidFill>
                  <a:srgbClr val="5C6D7E"/>
                </a:solidFill>
                <a:latin typeface="Consola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83080"/>
            <a:ext cx="3154680" cy="342900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029968"/>
            <a:ext cx="269748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RULE-BASED ALERTS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95728"/>
            <a:ext cx="2697480" cy="4114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350" b="1">
                <a:solidFill>
                  <a:srgbClr val="E7EDF3"/>
                </a:solidFill>
                <a:latin typeface="Aptos"/>
              </a:rPr>
              <a:t>What is happening right now?</a:t>
            </a:r>
          </a:p>
        </p:txBody>
      </p:sp>
      <p:sp>
        <p:nvSpPr>
          <p:cNvPr id="9" name="Oval 8"/>
          <p:cNvSpPr/>
          <p:nvPr/>
        </p:nvSpPr>
        <p:spPr>
          <a:xfrm>
            <a:off x="841248" y="3108960"/>
            <a:ext cx="91440" cy="91440"/>
          </a:xfrm>
          <a:prstGeom prst="ellipse">
            <a:avLst/>
          </a:prstGeom>
          <a:solidFill>
            <a:srgbClr val="39D98A"/>
          </a:solidFill>
          <a:ln>
            <a:solidFill>
              <a:srgbClr val="39D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1" y="3063240"/>
            <a:ext cx="224028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050" b="0">
                <a:solidFill>
                  <a:srgbClr val="8B9DB1"/>
                </a:solidFill>
                <a:latin typeface="Aptos"/>
              </a:rPr>
              <a:t>HIGH_ACTIVITY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3584448"/>
            <a:ext cx="91440" cy="91440"/>
          </a:xfrm>
          <a:prstGeom prst="ellipse">
            <a:avLst/>
          </a:prstGeom>
          <a:solidFill>
            <a:srgbClr val="39D98A"/>
          </a:solidFill>
          <a:ln>
            <a:solidFill>
              <a:srgbClr val="39D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33271" y="3538728"/>
            <a:ext cx="224028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050" b="0">
                <a:solidFill>
                  <a:srgbClr val="8B9DB1"/>
                </a:solidFill>
                <a:latin typeface="Aptos"/>
              </a:rPr>
              <a:t>ACTIVITY_SPIKE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4059936"/>
            <a:ext cx="91440" cy="91440"/>
          </a:xfrm>
          <a:prstGeom prst="ellipse">
            <a:avLst/>
          </a:prstGeom>
          <a:solidFill>
            <a:srgbClr val="39D98A"/>
          </a:solidFill>
          <a:ln>
            <a:solidFill>
              <a:srgbClr val="39D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33271" y="4014216"/>
            <a:ext cx="224028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050" b="0">
                <a:solidFill>
                  <a:srgbClr val="8B9DB1"/>
                </a:solidFill>
                <a:latin typeface="Aptos"/>
              </a:rPr>
              <a:t>ACTIVITY_DROP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69080" y="1783080"/>
            <a:ext cx="3154680" cy="342900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97680" y="2029968"/>
            <a:ext cx="269748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F0B35B"/>
                </a:solidFill>
                <a:latin typeface="Consolas"/>
              </a:rPr>
              <a:t>ANOMALY BASELINE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395728"/>
            <a:ext cx="2697480" cy="4114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350" b="1">
                <a:solidFill>
                  <a:srgbClr val="E7EDF3"/>
                </a:solidFill>
                <a:latin typeface="Aptos"/>
              </a:rPr>
              <a:t>Is this unusual for this grid and hour?</a:t>
            </a:r>
          </a:p>
        </p:txBody>
      </p:sp>
      <p:sp>
        <p:nvSpPr>
          <p:cNvPr id="18" name="Oval 17"/>
          <p:cNvSpPr/>
          <p:nvPr/>
        </p:nvSpPr>
        <p:spPr>
          <a:xfrm>
            <a:off x="4315968" y="3108960"/>
            <a:ext cx="91440" cy="91440"/>
          </a:xfrm>
          <a:prstGeom prst="ellipse">
            <a:avLst/>
          </a:prstGeom>
          <a:solidFill>
            <a:srgbClr val="F0B35B"/>
          </a:solidFill>
          <a:ln>
            <a:solidFill>
              <a:srgbClr val="F0B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07992" y="3063240"/>
            <a:ext cx="224028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050" b="0">
                <a:solidFill>
                  <a:srgbClr val="8B9DB1"/>
                </a:solidFill>
                <a:latin typeface="Aptos"/>
              </a:rPr>
              <a:t>Historical baseline</a:t>
            </a:r>
          </a:p>
        </p:txBody>
      </p:sp>
      <p:sp>
        <p:nvSpPr>
          <p:cNvPr id="20" name="Oval 19"/>
          <p:cNvSpPr/>
          <p:nvPr/>
        </p:nvSpPr>
        <p:spPr>
          <a:xfrm>
            <a:off x="4315968" y="3584448"/>
            <a:ext cx="91440" cy="91440"/>
          </a:xfrm>
          <a:prstGeom prst="ellipse">
            <a:avLst/>
          </a:prstGeom>
          <a:solidFill>
            <a:srgbClr val="F0B35B"/>
          </a:solidFill>
          <a:ln>
            <a:solidFill>
              <a:srgbClr val="F0B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07992" y="3538728"/>
            <a:ext cx="224028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050" b="0">
                <a:solidFill>
                  <a:srgbClr val="8B9DB1"/>
                </a:solidFill>
                <a:latin typeface="Aptos"/>
              </a:rPr>
              <a:t>Deviation score</a:t>
            </a:r>
          </a:p>
        </p:txBody>
      </p:sp>
      <p:sp>
        <p:nvSpPr>
          <p:cNvPr id="22" name="Oval 21"/>
          <p:cNvSpPr/>
          <p:nvPr/>
        </p:nvSpPr>
        <p:spPr>
          <a:xfrm>
            <a:off x="4315968" y="4059936"/>
            <a:ext cx="91440" cy="91440"/>
          </a:xfrm>
          <a:prstGeom prst="ellipse">
            <a:avLst/>
          </a:prstGeom>
          <a:solidFill>
            <a:srgbClr val="F0B35B"/>
          </a:solidFill>
          <a:ln>
            <a:solidFill>
              <a:srgbClr val="F0B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07992" y="4014216"/>
            <a:ext cx="224028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050" b="0">
                <a:solidFill>
                  <a:srgbClr val="8B9DB1"/>
                </a:solidFill>
                <a:latin typeface="Aptos"/>
              </a:rPr>
              <a:t>High / low direction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43800" y="1783080"/>
            <a:ext cx="3154680" cy="342900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0" y="2029968"/>
            <a:ext cx="269748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4F8CFF"/>
                </a:solidFill>
                <a:latin typeface="Consolas"/>
              </a:rPr>
              <a:t>ML3 RISK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2395728"/>
            <a:ext cx="2697480" cy="4114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350" b="1">
                <a:solidFill>
                  <a:srgbClr val="E7EDF3"/>
                </a:solidFill>
                <a:latin typeface="Aptos"/>
              </a:rPr>
              <a:t>What is the predicted future risk?</a:t>
            </a:r>
          </a:p>
        </p:txBody>
      </p:sp>
      <p:sp>
        <p:nvSpPr>
          <p:cNvPr id="27" name="Oval 26"/>
          <p:cNvSpPr/>
          <p:nvPr/>
        </p:nvSpPr>
        <p:spPr>
          <a:xfrm>
            <a:off x="7790688" y="3108960"/>
            <a:ext cx="91440" cy="91440"/>
          </a:xfrm>
          <a:prstGeom prst="ellipse">
            <a:avLst/>
          </a:prstGeom>
          <a:solidFill>
            <a:srgbClr val="4F8CFF"/>
          </a:solidFill>
          <a:ln>
            <a:solidFill>
              <a:srgbClr val="4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82712" y="3063240"/>
            <a:ext cx="224028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050" b="0">
                <a:solidFill>
                  <a:srgbClr val="8B9DB1"/>
                </a:solidFill>
                <a:latin typeface="Aptos"/>
              </a:rPr>
              <a:t>Future-window target</a:t>
            </a:r>
          </a:p>
        </p:txBody>
      </p:sp>
      <p:sp>
        <p:nvSpPr>
          <p:cNvPr id="29" name="Oval 28"/>
          <p:cNvSpPr/>
          <p:nvPr/>
        </p:nvSpPr>
        <p:spPr>
          <a:xfrm>
            <a:off x="7790688" y="3584448"/>
            <a:ext cx="91440" cy="91440"/>
          </a:xfrm>
          <a:prstGeom prst="ellipse">
            <a:avLst/>
          </a:prstGeom>
          <a:solidFill>
            <a:srgbClr val="4F8CFF"/>
          </a:solidFill>
          <a:ln>
            <a:solidFill>
              <a:srgbClr val="4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982712" y="3538728"/>
            <a:ext cx="224028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050" b="0">
                <a:solidFill>
                  <a:srgbClr val="8B9DB1"/>
                </a:solidFill>
                <a:latin typeface="Aptos"/>
              </a:rPr>
              <a:t>Decision Tree classifier</a:t>
            </a:r>
          </a:p>
        </p:txBody>
      </p:sp>
      <p:sp>
        <p:nvSpPr>
          <p:cNvPr id="31" name="Oval 30"/>
          <p:cNvSpPr/>
          <p:nvPr/>
        </p:nvSpPr>
        <p:spPr>
          <a:xfrm>
            <a:off x="7790688" y="4059936"/>
            <a:ext cx="91440" cy="91440"/>
          </a:xfrm>
          <a:prstGeom prst="ellipse">
            <a:avLst/>
          </a:prstGeom>
          <a:solidFill>
            <a:srgbClr val="4F8CFF"/>
          </a:solidFill>
          <a:ln>
            <a:solidFill>
              <a:srgbClr val="4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982712" y="4014216"/>
            <a:ext cx="224028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050" b="0">
                <a:solidFill>
                  <a:srgbClr val="8B9DB1"/>
                </a:solidFill>
                <a:latin typeface="Aptos"/>
              </a:rPr>
              <a:t>Risk score + level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5486400"/>
            <a:ext cx="10104120" cy="5029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2960" y="5623560"/>
            <a:ext cx="960120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1019" b="1">
                <a:solidFill>
                  <a:srgbClr val="E7EDF3"/>
                </a:solidFill>
                <a:latin typeface="Aptos"/>
              </a:rPr>
              <a:t>Operational principle: a risk score is an attention signal — not proof of congestion or a network fault.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66928" y="6528816"/>
            <a:ext cx="11064240" cy="0"/>
          </a:xfrm>
          <a:prstGeom prst="line">
            <a:avLst/>
          </a:prstGeom>
          <a:ln w="8890">
            <a:solidFill>
              <a:srgbClr val="233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66928" y="6574536"/>
            <a:ext cx="5029200" cy="1463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670" b="1">
                <a:solidFill>
                  <a:srgbClr val="5C6D7E"/>
                </a:solidFill>
                <a:latin typeface="Consolas"/>
              </a:rPr>
              <a:t>NEXUS  /  TELECOM NETWORK ANALYTICS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457200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06 / SERVICE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6616" y="691065"/>
            <a:ext cx="10789920" cy="4754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700" b="1">
                <a:solidFill>
                  <a:srgbClr val="E7EDF3"/>
                </a:solidFill>
                <a:latin typeface="Aptos"/>
              </a:rPr>
              <a:t>FastAPI turns analytics into reusable operational contracts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61288"/>
            <a:ext cx="10789920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120" b="0">
                <a:solidFill>
                  <a:srgbClr val="8B9DB1"/>
                </a:solidFill>
                <a:latin typeface="Aptos"/>
              </a:rPr>
              <a:t>The dashboard consumes stable endpoints instead of embedding analytics logic in the UI.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800" b="1">
                <a:solidFill>
                  <a:srgbClr val="5C6D7E"/>
                </a:solidFill>
                <a:latin typeface="Consola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91640"/>
            <a:ext cx="6629400" cy="448056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585216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OPERATIONAL API SURFACE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04288"/>
            <a:ext cx="2971800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900" b="1">
                <a:solidFill>
                  <a:srgbClr val="39D98A"/>
                </a:solidFill>
                <a:latin typeface="Consolas"/>
              </a:rPr>
              <a:t>/network/summary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2304288"/>
            <a:ext cx="2926080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950" b="0">
                <a:solidFill>
                  <a:srgbClr val="8B9DB1"/>
                </a:solidFill>
                <a:latin typeface="Aptos"/>
              </a:rPr>
              <a:t>Top-level KPIs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52344"/>
            <a:ext cx="2971800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900" b="1">
                <a:solidFill>
                  <a:srgbClr val="4F8CFF"/>
                </a:solidFill>
                <a:latin typeface="Consolas"/>
              </a:rPr>
              <a:t>/network/grid/{id}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2752344"/>
            <a:ext cx="2926080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950" b="0">
                <a:solidFill>
                  <a:srgbClr val="8B9DB1"/>
                </a:solidFill>
                <a:latin typeface="Aptos"/>
              </a:rPr>
              <a:t>Hourly grid activity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200400"/>
            <a:ext cx="2971800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900" b="1">
                <a:solidFill>
                  <a:srgbClr val="F0B35B"/>
                </a:solidFill>
                <a:latin typeface="Consolas"/>
              </a:rPr>
              <a:t>/network/hotspots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200400"/>
            <a:ext cx="2926080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950" b="0">
                <a:solidFill>
                  <a:srgbClr val="8B9DB1"/>
                </a:solidFill>
                <a:latin typeface="Aptos"/>
              </a:rPr>
              <a:t>Ranked high-activity areas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48456"/>
            <a:ext cx="2971800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900" b="1">
                <a:solidFill>
                  <a:srgbClr val="FF6B72"/>
                </a:solidFill>
                <a:latin typeface="Consolas"/>
              </a:rPr>
              <a:t>/network/alerts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3648456"/>
            <a:ext cx="2926080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950" b="0">
                <a:solidFill>
                  <a:srgbClr val="8B9DB1"/>
                </a:solidFill>
                <a:latin typeface="Aptos"/>
              </a:rPr>
              <a:t>Operational attention signals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096512"/>
            <a:ext cx="2971800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900" b="1">
                <a:solidFill>
                  <a:srgbClr val="4F8CFF"/>
                </a:solidFill>
                <a:latin typeface="Consolas"/>
              </a:rPr>
              <a:t>/network/grid/{id}/features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4096512"/>
            <a:ext cx="2926080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950" b="0">
                <a:solidFill>
                  <a:srgbClr val="8B9DB1"/>
                </a:solidFill>
                <a:latin typeface="Aptos"/>
              </a:rPr>
              <a:t>ML feature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544568"/>
            <a:ext cx="2971800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900" b="1">
                <a:solidFill>
                  <a:srgbClr val="F0B35B"/>
                </a:solidFill>
                <a:latin typeface="Consolas"/>
              </a:rPr>
              <a:t>/network/predict-risk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4544568"/>
            <a:ext cx="2926080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950" b="0">
                <a:solidFill>
                  <a:srgbClr val="8B9DB1"/>
                </a:solidFill>
                <a:latin typeface="Aptos"/>
              </a:rPr>
              <a:t>ML3 risk inference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992624"/>
            <a:ext cx="2971800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900" b="1">
                <a:solidFill>
                  <a:srgbClr val="39D98A"/>
                </a:solidFill>
                <a:latin typeface="Consolas"/>
              </a:rPr>
              <a:t>/pipeline/status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4992624"/>
            <a:ext cx="2926080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950" b="0">
                <a:solidFill>
                  <a:srgbClr val="8B9DB1"/>
                </a:solidFill>
                <a:latin typeface="Aptos"/>
              </a:rPr>
              <a:t>Data / pipeline health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440680"/>
            <a:ext cx="2971800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900" b="1">
                <a:solidFill>
                  <a:srgbClr val="4F8CFF"/>
                </a:solidFill>
                <a:latin typeface="Consolas"/>
              </a:rPr>
              <a:t>/network/grid/{id}/location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5440680"/>
            <a:ext cx="2926080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950" b="0">
                <a:solidFill>
                  <a:srgbClr val="8B9DB1"/>
                </a:solidFill>
                <a:latin typeface="Aptos"/>
              </a:rPr>
              <a:t>Geographic grid context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52360" y="1691640"/>
            <a:ext cx="4114800" cy="448056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26679" y="1920240"/>
            <a:ext cx="34747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DESIGN BENEFITS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79" y="2331720"/>
            <a:ext cx="33375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110" b="1">
                <a:solidFill>
                  <a:srgbClr val="39D98A"/>
                </a:solidFill>
                <a:latin typeface="Aptos"/>
              </a:rPr>
              <a:t>▸ </a:t>
            </a:r>
            <a:r>
              <a:rPr sz="1110">
                <a:solidFill>
                  <a:srgbClr val="E7EDF3"/>
                </a:solidFill>
                <a:latin typeface="Aptos"/>
              </a:rPr>
              <a:t>Clear separation between UI and analytics.</a:t>
            </a:r>
          </a:p>
          <a:p>
            <a:pPr>
              <a:spcAft>
                <a:spcPts val="700"/>
              </a:spcAft>
            </a:pPr>
            <a:r>
              <a:rPr sz="1110" b="1">
                <a:solidFill>
                  <a:srgbClr val="39D98A"/>
                </a:solidFill>
                <a:latin typeface="Aptos"/>
              </a:rPr>
              <a:t>▸ </a:t>
            </a:r>
            <a:r>
              <a:rPr sz="1110">
                <a:solidFill>
                  <a:srgbClr val="E7EDF3"/>
                </a:solidFill>
                <a:latin typeface="Aptos"/>
              </a:rPr>
              <a:t>Reusable contracts for future AI tools.</a:t>
            </a:r>
          </a:p>
          <a:p>
            <a:pPr>
              <a:spcAft>
                <a:spcPts val="700"/>
              </a:spcAft>
            </a:pPr>
            <a:r>
              <a:rPr sz="1110" b="1">
                <a:solidFill>
                  <a:srgbClr val="39D98A"/>
                </a:solidFill>
                <a:latin typeface="Aptos"/>
              </a:rPr>
              <a:t>▸ </a:t>
            </a:r>
            <a:r>
              <a:rPr sz="1110">
                <a:solidFill>
                  <a:srgbClr val="E7EDF3"/>
                </a:solidFill>
                <a:latin typeface="Aptos"/>
              </a:rPr>
              <a:t>Centralized validation and error handling.</a:t>
            </a:r>
          </a:p>
          <a:p>
            <a:pPr>
              <a:spcAft>
                <a:spcPts val="700"/>
              </a:spcAft>
            </a:pPr>
            <a:r>
              <a:rPr sz="1110" b="1">
                <a:solidFill>
                  <a:srgbClr val="39D98A"/>
                </a:solidFill>
                <a:latin typeface="Aptos"/>
              </a:rPr>
              <a:t>▸ </a:t>
            </a:r>
            <a:r>
              <a:rPr sz="1110">
                <a:solidFill>
                  <a:srgbClr val="E7EDF3"/>
                </a:solidFill>
                <a:latin typeface="Aptos"/>
              </a:rPr>
              <a:t>One reporting-time concept across the system.</a:t>
            </a:r>
          </a:p>
          <a:p>
            <a:pPr>
              <a:spcAft>
                <a:spcPts val="700"/>
              </a:spcAft>
            </a:pPr>
            <a:r>
              <a:rPr sz="1110" b="1">
                <a:solidFill>
                  <a:srgbClr val="39D98A"/>
                </a:solidFill>
                <a:latin typeface="Aptos"/>
              </a:rPr>
              <a:t>▸ </a:t>
            </a:r>
            <a:r>
              <a:rPr sz="1110">
                <a:solidFill>
                  <a:srgbClr val="E7EDF3"/>
                </a:solidFill>
                <a:latin typeface="Aptos"/>
              </a:rPr>
              <a:t>Supports frontend, testing and future Claude tools.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66928" y="6528816"/>
            <a:ext cx="11064240" cy="0"/>
          </a:xfrm>
          <a:prstGeom prst="line">
            <a:avLst/>
          </a:prstGeom>
          <a:ln w="8890">
            <a:solidFill>
              <a:srgbClr val="233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66928" y="6574536"/>
            <a:ext cx="5029200" cy="1463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670" b="1">
                <a:solidFill>
                  <a:srgbClr val="5C6D7E"/>
                </a:solidFill>
                <a:latin typeface="Consolas"/>
              </a:rPr>
              <a:t>NEXUS  /  TELECOM NETWORK ANALYTICS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457200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07 / PRODUCT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5865" y="729647"/>
            <a:ext cx="10789920" cy="43396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700" b="1" dirty="0">
                <a:solidFill>
                  <a:schemeClr val="bg1"/>
                </a:solidFill>
                <a:latin typeface="Aptos"/>
              </a:rPr>
              <a:t>The NOC control room</a:t>
            </a:r>
            <a:endParaRPr lang="en-US" sz="27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161288"/>
            <a:ext cx="10789920" cy="190821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100" b="0" dirty="0">
                <a:solidFill>
                  <a:schemeClr val="bg1"/>
                </a:solidFill>
                <a:latin typeface="Aptos"/>
              </a:rPr>
              <a:t>The frontend is intentionally aligned to an operator workflow: orient → drill down → investigate.</a:t>
            </a:r>
            <a:endParaRPr lang="en-US" sz="1100" b="0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800" b="1">
                <a:solidFill>
                  <a:srgbClr val="5C6D7E"/>
                </a:solidFill>
                <a:latin typeface="Consolas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8744" y="5572218"/>
            <a:ext cx="4974336" cy="1492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850" b="1">
                <a:solidFill>
                  <a:srgbClr val="000000"/>
                </a:solidFill>
                <a:latin typeface="Aptos"/>
              </a:rPr>
              <a:t>Network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6748" y="5572218"/>
            <a:ext cx="4974336" cy="1492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 dirty="0">
                <a:solidFill>
                  <a:schemeClr val="bg1"/>
                </a:solidFill>
                <a:latin typeface="Aptos"/>
              </a:rPr>
              <a:t>Grid Explorer</a:t>
            </a:r>
            <a:endParaRPr lang="en-US" sz="85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94360" y="5925312"/>
            <a:ext cx="10972800" cy="161583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900" b="1" dirty="0">
                <a:solidFill>
                  <a:schemeClr val="bg1"/>
                </a:solidFill>
                <a:latin typeface="Aptos"/>
              </a:rPr>
              <a:t>Overview answers “what is happening?”  •  Grid Explorer answers “what is happening inside this grid?”</a:t>
            </a:r>
            <a:endParaRPr lang="en-US" sz="900" b="1" dirty="0">
              <a:solidFill>
                <a:schemeClr val="bg1"/>
              </a:solidFill>
              <a:latin typeface="Aptos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566928" y="6528816"/>
            <a:ext cx="11064240" cy="0"/>
          </a:xfrm>
          <a:prstGeom prst="line">
            <a:avLst/>
          </a:prstGeom>
          <a:ln w="8890">
            <a:solidFill>
              <a:srgbClr val="233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6928" y="6574536"/>
            <a:ext cx="5029200" cy="1463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670" b="1">
                <a:solidFill>
                  <a:srgbClr val="5C6D7E"/>
                </a:solidFill>
                <a:latin typeface="Consolas"/>
              </a:rPr>
              <a:t>NEXUS  /  TELECOM NETWORK ANALYTICS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EDA326F-256E-8BDD-A97F-86E25F6BF2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099" r="1442"/>
          <a:stretch>
            <a:fillRect/>
          </a:stretch>
        </p:blipFill>
        <p:spPr>
          <a:xfrm>
            <a:off x="7434079" y="1157699"/>
            <a:ext cx="3667174" cy="196947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BDEDEC8-0A97-8813-EA85-FDB2994150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1870" y="3372086"/>
            <a:ext cx="3651664" cy="196440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6F3BBAB-596B-EF6C-A2BB-892BEAACB6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68" y="1714365"/>
            <a:ext cx="6293923" cy="331051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457200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08 / SPATIAL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574" y="727893"/>
            <a:ext cx="10789920" cy="43396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700" b="1" dirty="0">
                <a:solidFill>
                  <a:schemeClr val="bg1"/>
                </a:solidFill>
                <a:latin typeface="Aptos"/>
              </a:rPr>
              <a:t>See the network where it matters</a:t>
            </a:r>
            <a:endParaRPr lang="en-US" sz="27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161288"/>
            <a:ext cx="10789920" cy="190821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100" b="0" dirty="0">
                <a:solidFill>
                  <a:schemeClr val="bg1"/>
                </a:solidFill>
                <a:latin typeface="Aptos"/>
              </a:rPr>
              <a:t>Ranked records and Milan grid geometry turn abstract activity into location-aware operations.</a:t>
            </a:r>
            <a:endParaRPr lang="en-US" sz="1100" b="0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800" b="1">
                <a:solidFill>
                  <a:srgbClr val="5C6D7E"/>
                </a:solidFill>
                <a:latin typeface="Consolas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303" y="3810711"/>
            <a:ext cx="4974336" cy="1492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 dirty="0">
                <a:solidFill>
                  <a:srgbClr val="8B9DB1"/>
                </a:solidFill>
                <a:latin typeface="Aptos"/>
              </a:rPr>
              <a:t>Network Hotspots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90904" y="3810711"/>
            <a:ext cx="4974336" cy="1492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 dirty="0">
                <a:solidFill>
                  <a:srgbClr val="8B9DB1"/>
                </a:solidFill>
                <a:latin typeface="Aptos"/>
              </a:rPr>
              <a:t>Network Alerts 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653737" y="6321156"/>
            <a:ext cx="10972800" cy="15850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900" b="1" dirty="0">
                <a:solidFill>
                  <a:schemeClr val="bg1"/>
                </a:solidFill>
                <a:latin typeface="Aptos"/>
              </a:rPr>
              <a:t>NORMAL  •  ATTENTION  •  HIGH    |    independent result limits    |    grid selection + tooltip context</a:t>
            </a:r>
            <a:endParaRPr lang="en-US" sz="900" b="1" dirty="0">
              <a:solidFill>
                <a:schemeClr val="bg1"/>
              </a:solidFill>
              <a:latin typeface="Aptos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566928" y="6528816"/>
            <a:ext cx="11064240" cy="0"/>
          </a:xfrm>
          <a:prstGeom prst="line">
            <a:avLst/>
          </a:prstGeom>
          <a:ln w="8890">
            <a:solidFill>
              <a:srgbClr val="233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6928" y="6574536"/>
            <a:ext cx="5029200" cy="1463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670" b="1">
                <a:solidFill>
                  <a:srgbClr val="5C6D7E"/>
                </a:solidFill>
                <a:latin typeface="Consolas"/>
              </a:rPr>
              <a:t>NEXUS  /  TELECOM NETWORK ANALYTICS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178F25F-258F-7344-9F63-A603DB673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636" y="1504097"/>
            <a:ext cx="4156366" cy="226642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BD67E22-F6E3-E236-2110-CBCF35A258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8624" y="1504926"/>
            <a:ext cx="4146468" cy="224498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99A94BA-17C6-FE74-A357-391D63F39210}"/>
              </a:ext>
            </a:extLst>
          </p:cNvPr>
          <p:cNvSpPr txBox="1"/>
          <p:nvPr/>
        </p:nvSpPr>
        <p:spPr>
          <a:xfrm>
            <a:off x="3659579" y="6126399"/>
            <a:ext cx="4974336" cy="1492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lang="en-US" sz="850" b="1" dirty="0">
                <a:solidFill>
                  <a:srgbClr val="8B9DB1"/>
                </a:solidFill>
                <a:latin typeface="Aptos"/>
              </a:rPr>
              <a:t>Milan</a:t>
            </a:r>
            <a:r>
              <a:rPr sz="850" b="1" dirty="0">
                <a:solidFill>
                  <a:srgbClr val="8B9DB1"/>
                </a:solidFill>
                <a:latin typeface="Aptos"/>
              </a:rPr>
              <a:t> map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20C1912-F52E-E68A-2FC3-26706F918B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9168" y="4031241"/>
            <a:ext cx="4146468" cy="212060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457200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09 / INVESTIGATION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27893"/>
            <a:ext cx="10789920" cy="43396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700" b="1" dirty="0">
                <a:solidFill>
                  <a:schemeClr val="bg1"/>
                </a:solidFill>
                <a:latin typeface="Aptos"/>
              </a:rPr>
              <a:t>Move from alert to evidence</a:t>
            </a:r>
            <a:endParaRPr lang="en-US" sz="27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161288"/>
            <a:ext cx="10789920" cy="190821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100" b="0" dirty="0">
                <a:solidFill>
                  <a:schemeClr val="bg1"/>
                </a:solidFill>
                <a:latin typeface="Aptos"/>
              </a:rPr>
              <a:t>The investigation experience connects the alert record to historical context and comparative evidence.</a:t>
            </a:r>
            <a:endParaRPr lang="en-US" sz="1100" b="0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800" b="1">
                <a:solidFill>
                  <a:srgbClr val="5C6D7E"/>
                </a:solidFill>
                <a:latin typeface="Consolas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5285231"/>
            <a:ext cx="4974336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850" b="1">
                <a:solidFill>
                  <a:srgbClr val="8B9DB1"/>
                </a:solidFill>
                <a:latin typeface="Aptos"/>
              </a:rPr>
              <a:t>Alert Investigation / Detail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5285231"/>
            <a:ext cx="4974336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850" b="1">
                <a:solidFill>
                  <a:srgbClr val="8B9DB1"/>
                </a:solidFill>
                <a:latin typeface="Aptos"/>
              </a:rPr>
              <a:t>Analytics / additional operational 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25312"/>
            <a:ext cx="1097280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1000" b="1">
                <a:solidFill>
                  <a:srgbClr val="39D98A"/>
                </a:solidFill>
                <a:latin typeface="Consolas"/>
              </a:rPr>
              <a:t>Signal → context → evidence → next action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66928" y="6528816"/>
            <a:ext cx="11064240" cy="0"/>
          </a:xfrm>
          <a:prstGeom prst="line">
            <a:avLst/>
          </a:prstGeom>
          <a:ln w="8890">
            <a:solidFill>
              <a:srgbClr val="233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6928" y="6574536"/>
            <a:ext cx="5029200" cy="1463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670" b="1">
                <a:solidFill>
                  <a:srgbClr val="5C6D7E"/>
                </a:solidFill>
                <a:latin typeface="Consolas"/>
              </a:rPr>
              <a:t>NEXUS  /  TELECOM NETWORK ANALYTICS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955E7E4-4832-7C08-3B6F-85BF80EE67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935" y="2263807"/>
            <a:ext cx="5145975" cy="279550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B8722BF-933D-1C39-BF19-7745A0A1B3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268681"/>
            <a:ext cx="5383481" cy="278575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457200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10 / COMPARATIVE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27893"/>
            <a:ext cx="10789920" cy="43396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700" b="1" dirty="0">
                <a:solidFill>
                  <a:schemeClr val="bg1"/>
                </a:solidFill>
                <a:latin typeface="Aptos"/>
              </a:rPr>
              <a:t>Compare patterns, not just values</a:t>
            </a:r>
            <a:endParaRPr lang="en-US" sz="27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161288"/>
            <a:ext cx="10789920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120" b="0">
                <a:solidFill>
                  <a:srgbClr val="8B9DB1"/>
                </a:solidFill>
                <a:latin typeface="Aptos"/>
              </a:rPr>
              <a:t>Historical and side-by-side views help distinguish isolated spikes from persistent or structural differences.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800" b="1">
                <a:solidFill>
                  <a:srgbClr val="5C6D7E"/>
                </a:solidFill>
                <a:latin typeface="Consolas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303" y="5898789"/>
            <a:ext cx="4974336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850" b="1">
                <a:solidFill>
                  <a:srgbClr val="8B9DB1"/>
                </a:solidFill>
                <a:latin typeface="Aptos"/>
              </a:rPr>
              <a:t>Compare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1965960"/>
            <a:ext cx="475488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4F8CFF"/>
                </a:solidFill>
                <a:latin typeface="Consolas"/>
              </a:rPr>
              <a:t>DECISION QUESTIONS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2395728"/>
            <a:ext cx="4572000" cy="111261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700"/>
              </a:spcAft>
            </a:pPr>
            <a:r>
              <a:rPr sz="1200" b="1" dirty="0">
                <a:solidFill>
                  <a:schemeClr val="bg1"/>
                </a:solidFill>
                <a:latin typeface="Aptos"/>
              </a:rPr>
              <a:t>▸ </a:t>
            </a:r>
            <a:r>
              <a:rPr sz="1200" dirty="0">
                <a:solidFill>
                  <a:schemeClr val="bg1"/>
                </a:solidFill>
                <a:latin typeface="Aptos"/>
              </a:rPr>
              <a:t>Is Grid A behaving differently from Grid B?</a:t>
            </a:r>
            <a:endParaRPr lang="en-US" sz="1200" dirty="0">
              <a:solidFill>
                <a:schemeClr val="bg1"/>
              </a:solidFill>
              <a:latin typeface="Aptos"/>
            </a:endParaRPr>
          </a:p>
          <a:p>
            <a:pPr>
              <a:spcAft>
                <a:spcPts val="700"/>
              </a:spcAft>
            </a:pPr>
            <a:r>
              <a:rPr sz="1200" b="1" dirty="0">
                <a:solidFill>
                  <a:schemeClr val="bg1"/>
                </a:solidFill>
                <a:latin typeface="Aptos"/>
              </a:rPr>
              <a:t>▸ </a:t>
            </a:r>
            <a:r>
              <a:rPr sz="1200" dirty="0">
                <a:solidFill>
                  <a:schemeClr val="bg1"/>
                </a:solidFill>
                <a:latin typeface="Aptos"/>
              </a:rPr>
              <a:t>Is the change persistent across time?</a:t>
            </a:r>
          </a:p>
          <a:p>
            <a:pPr>
              <a:spcAft>
                <a:spcPts val="700"/>
              </a:spcAft>
            </a:pPr>
            <a:r>
              <a:rPr sz="1200" b="1" dirty="0">
                <a:solidFill>
                  <a:schemeClr val="bg1"/>
                </a:solidFill>
                <a:latin typeface="Aptos"/>
              </a:rPr>
              <a:t>▸ </a:t>
            </a:r>
            <a:r>
              <a:rPr sz="1200" dirty="0">
                <a:solidFill>
                  <a:schemeClr val="bg1"/>
                </a:solidFill>
                <a:latin typeface="Aptos"/>
              </a:rPr>
              <a:t>Is the peak expected for this hour?</a:t>
            </a:r>
          </a:p>
          <a:p>
            <a:pPr>
              <a:spcAft>
                <a:spcPts val="700"/>
              </a:spcAft>
            </a:pPr>
            <a:r>
              <a:rPr sz="1200" b="1" dirty="0">
                <a:solidFill>
                  <a:schemeClr val="bg1"/>
                </a:solidFill>
                <a:latin typeface="Aptos"/>
              </a:rPr>
              <a:t>▸ </a:t>
            </a:r>
            <a:r>
              <a:rPr sz="1200" dirty="0">
                <a:solidFill>
                  <a:schemeClr val="bg1"/>
                </a:solidFill>
                <a:latin typeface="Aptos"/>
              </a:rPr>
              <a:t>Does the operational signal agree with the ML risk signal?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66928" y="6528816"/>
            <a:ext cx="11064240" cy="0"/>
          </a:xfrm>
          <a:prstGeom prst="line">
            <a:avLst/>
          </a:prstGeom>
          <a:ln w="8890">
            <a:solidFill>
              <a:srgbClr val="233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66928" y="6574536"/>
            <a:ext cx="5029200" cy="1463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670" b="1">
                <a:solidFill>
                  <a:srgbClr val="5C6D7E"/>
                </a:solidFill>
                <a:latin typeface="Consolas"/>
              </a:rPr>
              <a:t>NEXUS  /  TELECOM NETWORK ANALYTICS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3FFC1D9-DB84-96D4-2E6F-348584AA02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949" y="1820884"/>
            <a:ext cx="4941738" cy="371104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447EF29-F7A3-A40F-E5F1-F6B3C4C9A4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4305" y="3684135"/>
            <a:ext cx="5816559" cy="18450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457200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11 / PREDICTIVE + DATA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27893"/>
            <a:ext cx="10789920" cy="43396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700" b="1" dirty="0">
                <a:solidFill>
                  <a:schemeClr val="bg1"/>
                </a:solidFill>
                <a:latin typeface="Aptos"/>
              </a:rPr>
              <a:t>Prediction is only useful when the evidence is healthy</a:t>
            </a:r>
            <a:endParaRPr lang="en-US" sz="27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161288"/>
            <a:ext cx="10789920" cy="190821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100" b="0" dirty="0">
                <a:solidFill>
                  <a:schemeClr val="bg1"/>
                </a:solidFill>
                <a:latin typeface="Aptos"/>
              </a:rPr>
              <a:t>Risk intelligence and pipeline health sit next to each other to make the operational context explicit.</a:t>
            </a:r>
            <a:endParaRPr lang="en-US" sz="1100" b="0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800" b="1">
                <a:solidFill>
                  <a:srgbClr val="5C6D7E"/>
                </a:solidFill>
                <a:latin typeface="Consolas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5819621"/>
            <a:ext cx="4974336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850" b="1">
                <a:solidFill>
                  <a:srgbClr val="8B9DB1"/>
                </a:solidFill>
                <a:latin typeface="Aptos"/>
              </a:rPr>
              <a:t>Predictive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90904" y="5552426"/>
            <a:ext cx="4974336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850" b="1">
                <a:solidFill>
                  <a:srgbClr val="8B9DB1"/>
                </a:solidFill>
                <a:latin typeface="Aptos"/>
              </a:rPr>
              <a:t>Pipeline Health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4256" y="6321156"/>
            <a:ext cx="10972800" cy="16312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900" b="1" dirty="0">
                <a:solidFill>
                  <a:schemeClr val="bg1"/>
                </a:solidFill>
                <a:latin typeface="Aptos"/>
              </a:rPr>
              <a:t>ML output = future risk signal    •    Pipeline health = confidence in the evidence feeding the signal</a:t>
            </a:r>
            <a:endParaRPr lang="en-US" sz="900" b="1" dirty="0">
              <a:solidFill>
                <a:schemeClr val="bg1"/>
              </a:solidFill>
              <a:latin typeface="Aptos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566928" y="6528816"/>
            <a:ext cx="11064240" cy="0"/>
          </a:xfrm>
          <a:prstGeom prst="line">
            <a:avLst/>
          </a:prstGeom>
          <a:ln w="8890">
            <a:solidFill>
              <a:srgbClr val="233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6928" y="6574536"/>
            <a:ext cx="5029200" cy="1463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670" b="1">
                <a:solidFill>
                  <a:srgbClr val="5C6D7E"/>
                </a:solidFill>
                <a:latin typeface="Consolas"/>
              </a:rPr>
              <a:t>NEXUS  /  TELECOM NETWORK ANALYTICS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F29CD78-211E-AF2F-2123-E5DF4C3DE2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012" y="1504209"/>
            <a:ext cx="4827822" cy="424543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2951FC5-3230-4BE4-8267-EE88AA380A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321" y="2018804"/>
            <a:ext cx="5612113" cy="32261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457200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13 / INVESTIGATION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9665"/>
            <a:ext cx="10789920" cy="4754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700" b="1">
                <a:solidFill>
                  <a:srgbClr val="E7EDF3"/>
                </a:solidFill>
                <a:latin typeface="Aptos"/>
              </a:rPr>
              <a:t>From a signal to an evidence-backed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61288"/>
            <a:ext cx="10789920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120" b="0">
                <a:solidFill>
                  <a:srgbClr val="8B9DB1"/>
                </a:solidFill>
                <a:latin typeface="Aptos"/>
              </a:rPr>
              <a:t>The added workflows connect the existing screens into one investigation experience.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800" b="1">
                <a:solidFill>
                  <a:srgbClr val="5C6D7E"/>
                </a:solidFill>
                <a:latin typeface="Consolas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37360"/>
            <a:ext cx="5230368" cy="178308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38528"/>
            <a:ext cx="34747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FF6B72"/>
                </a:solidFill>
                <a:latin typeface="Consolas"/>
              </a:rPr>
              <a:t>ALERT INVESTIGATION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2468880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400" b="1">
                <a:solidFill>
                  <a:srgbClr val="E7EDF3"/>
                </a:solidFill>
                <a:latin typeface="Aptos"/>
              </a:rPr>
              <a:t>What happened?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788920"/>
            <a:ext cx="640080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825496"/>
            <a:ext cx="64008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730" b="1">
                <a:solidFill>
                  <a:srgbClr val="8B9DB1"/>
                </a:solidFill>
                <a:latin typeface="Consolas"/>
              </a:rPr>
              <a:t>Alert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36192" y="2788920"/>
            <a:ext cx="640080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36192" y="2825496"/>
            <a:ext cx="64008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730" b="1">
                <a:solidFill>
                  <a:srgbClr val="8B9DB1"/>
                </a:solidFill>
                <a:latin typeface="Consolas"/>
              </a:rPr>
              <a:t>Grid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49424" y="2788920"/>
            <a:ext cx="786384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249424" y="2825496"/>
            <a:ext cx="786384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730" b="1">
                <a:solidFill>
                  <a:srgbClr val="8B9DB1"/>
                </a:solidFill>
                <a:latin typeface="Consolas"/>
              </a:rPr>
              <a:t>Baseline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08960" y="2788920"/>
            <a:ext cx="1234440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08960" y="2825496"/>
            <a:ext cx="123444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730" b="1">
                <a:solidFill>
                  <a:srgbClr val="8B9DB1"/>
                </a:solidFill>
                <a:latin typeface="Consolas"/>
              </a:rPr>
              <a:t>Recent activity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737360"/>
            <a:ext cx="5230368" cy="178308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5080" y="1938528"/>
            <a:ext cx="34747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4F8CFF"/>
                </a:solidFill>
                <a:latin typeface="Consolas"/>
              </a:rPr>
              <a:t>COMPARE 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240280"/>
            <a:ext cx="2468880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400" b="1">
                <a:solidFill>
                  <a:srgbClr val="E7EDF3"/>
                </a:solidFill>
                <a:latin typeface="Aptos"/>
              </a:rPr>
              <a:t>How different is it?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2788920"/>
            <a:ext cx="658368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55080" y="2825496"/>
            <a:ext cx="658368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730" b="1">
                <a:solidFill>
                  <a:srgbClr val="8B9DB1"/>
                </a:solidFill>
                <a:latin typeface="Consolas"/>
              </a:rPr>
              <a:t>Grid 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86600" y="2788920"/>
            <a:ext cx="658368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086600" y="2825496"/>
            <a:ext cx="658368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730" b="1">
                <a:solidFill>
                  <a:srgbClr val="8B9DB1"/>
                </a:solidFill>
                <a:latin typeface="Consolas"/>
              </a:rPr>
              <a:t>Grid 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18120" y="2788920"/>
            <a:ext cx="722376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818120" y="2825496"/>
            <a:ext cx="722376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730" b="1">
                <a:solidFill>
                  <a:srgbClr val="8B9DB1"/>
                </a:solidFill>
                <a:latin typeface="Consolas"/>
              </a:rPr>
              <a:t>Metrics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13648" y="2788920"/>
            <a:ext cx="722376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13648" y="2825496"/>
            <a:ext cx="722376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730" b="1">
                <a:solidFill>
                  <a:srgbClr val="8B9DB1"/>
                </a:solidFill>
                <a:latin typeface="Consolas"/>
              </a:rPr>
              <a:t>Pattern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3794760"/>
            <a:ext cx="5230368" cy="178308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60" y="3995928"/>
            <a:ext cx="34747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F0B35B"/>
                </a:solidFill>
                <a:latin typeface="Consolas"/>
              </a:rPr>
              <a:t>HISTORICAL TREND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297680"/>
            <a:ext cx="2468880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400" b="1">
                <a:solidFill>
                  <a:srgbClr val="E7EDF3"/>
                </a:solidFill>
                <a:latin typeface="Aptos"/>
              </a:rPr>
              <a:t>Is it persistent?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846320"/>
            <a:ext cx="658368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" y="4882896"/>
            <a:ext cx="658368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730" b="1">
                <a:solidFill>
                  <a:srgbClr val="8B9DB1"/>
                </a:solidFill>
                <a:latin typeface="Consolas"/>
              </a:rPr>
              <a:t>Date 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554480" y="4846320"/>
            <a:ext cx="658368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554480" y="4882896"/>
            <a:ext cx="658368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730" b="1">
                <a:solidFill>
                  <a:srgbClr val="8B9DB1"/>
                </a:solidFill>
                <a:latin typeface="Consolas"/>
              </a:rPr>
              <a:t>Date B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286000" y="4846320"/>
            <a:ext cx="1042416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286000" y="4882896"/>
            <a:ext cx="1042416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730" b="1">
                <a:solidFill>
                  <a:srgbClr val="8B9DB1"/>
                </a:solidFill>
                <a:latin typeface="Consolas"/>
              </a:rPr>
              <a:t>Hourly trend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01568" y="4846320"/>
            <a:ext cx="722376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401568" y="4882896"/>
            <a:ext cx="722376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730" b="1">
                <a:solidFill>
                  <a:srgbClr val="8B9DB1"/>
                </a:solidFill>
                <a:latin typeface="Consolas"/>
              </a:rPr>
              <a:t>Context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3794760"/>
            <a:ext cx="5230368" cy="178308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55080" y="3995928"/>
            <a:ext cx="34747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RISK → EVIDENCE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4297680"/>
            <a:ext cx="2468880" cy="31089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400" b="1">
                <a:solidFill>
                  <a:srgbClr val="E7EDF3"/>
                </a:solidFill>
                <a:latin typeface="Aptos"/>
              </a:rPr>
              <a:t>Why investigate?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55080" y="4846320"/>
            <a:ext cx="640080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355080" y="4882896"/>
            <a:ext cx="64008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730" b="1">
                <a:solidFill>
                  <a:srgbClr val="8B9DB1"/>
                </a:solidFill>
                <a:latin typeface="Consolas"/>
              </a:rPr>
              <a:t>Risk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068312" y="4846320"/>
            <a:ext cx="850392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068312" y="4882896"/>
            <a:ext cx="850392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730" b="1">
                <a:solidFill>
                  <a:srgbClr val="8B9DB1"/>
                </a:solidFill>
                <a:latin typeface="Consolas"/>
              </a:rPr>
              <a:t>ML inputs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991856" y="4846320"/>
            <a:ext cx="786384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991856" y="4882896"/>
            <a:ext cx="786384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730" b="1">
                <a:solidFill>
                  <a:srgbClr val="8B9DB1"/>
                </a:solidFill>
                <a:latin typeface="Consolas"/>
              </a:rPr>
              <a:t>Activity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851392" y="4846320"/>
            <a:ext cx="1234440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851392" y="4882896"/>
            <a:ext cx="123444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730" b="1">
                <a:solidFill>
                  <a:srgbClr val="8B9DB1"/>
                </a:solidFill>
                <a:latin typeface="Consolas"/>
              </a:rPr>
              <a:t>Related context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94360" y="5897880"/>
            <a:ext cx="10972800" cy="41148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22960" y="5998464"/>
            <a:ext cx="1051560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919" b="1">
                <a:solidFill>
                  <a:srgbClr val="E7EDF3"/>
                </a:solidFill>
                <a:latin typeface="Aptos"/>
              </a:rPr>
              <a:t>These workflows reuse the same grid, activity, alert and risk evidence — they do not create parallel analytics logic.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566928" y="6528816"/>
            <a:ext cx="11064240" cy="0"/>
          </a:xfrm>
          <a:prstGeom prst="line">
            <a:avLst/>
          </a:prstGeom>
          <a:ln w="8890">
            <a:solidFill>
              <a:srgbClr val="233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566928" y="6574536"/>
            <a:ext cx="5029200" cy="1463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670" b="1">
                <a:solidFill>
                  <a:srgbClr val="5C6D7E"/>
                </a:solidFill>
                <a:latin typeface="Consolas"/>
              </a:rPr>
              <a:t>NEXUS  /  TELECOM NETWORK ANALYTICS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457200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14 /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789920" cy="4754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700" b="1">
                <a:solidFill>
                  <a:srgbClr val="E7EDF3"/>
                </a:solidFill>
                <a:latin typeface="Aptos"/>
              </a:rPr>
              <a:t>Technical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61288"/>
            <a:ext cx="10789920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120" b="0">
                <a:solidFill>
                  <a:srgbClr val="8B9DB1"/>
                </a:solidFill>
                <a:latin typeface="Aptos"/>
              </a:rPr>
              <a:t>A practical stack chosen for reproducibility, clear contracts and incremental delivery.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800" b="1">
                <a:solidFill>
                  <a:srgbClr val="5C6D7E"/>
                </a:solidFill>
                <a:latin typeface="Consolas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37360"/>
            <a:ext cx="2514600" cy="160020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21031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304288"/>
            <a:ext cx="2103120" cy="6400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300" b="1">
                <a:solidFill>
                  <a:srgbClr val="E7EDF3"/>
                </a:solidFill>
                <a:latin typeface="Aptos"/>
              </a:rPr>
              <a:t>Python
CSV + GeoJSON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5848" y="1737360"/>
            <a:ext cx="2514600" cy="160020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57016" y="1938528"/>
            <a:ext cx="21031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4F8CFF"/>
                </a:solidFill>
                <a:latin typeface="Consolas"/>
              </a:rPr>
              <a:t>DISTRIBUTED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7016" y="2304288"/>
            <a:ext cx="2103120" cy="6400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300" b="1">
                <a:solidFill>
                  <a:srgbClr val="E7EDF3"/>
                </a:solidFill>
                <a:latin typeface="Aptos"/>
              </a:rPr>
              <a:t>PySpark
ETL + enrichment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17336" y="1737360"/>
            <a:ext cx="2514600" cy="160020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18504" y="1938528"/>
            <a:ext cx="21031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4F8CFF"/>
                </a:solidFill>
                <a:latin typeface="Consolas"/>
              </a:rPr>
              <a:t>STORAGE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18504" y="2304288"/>
            <a:ext cx="2103120" cy="6400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300" b="1">
                <a:solidFill>
                  <a:srgbClr val="E7EDF3"/>
                </a:solidFill>
                <a:latin typeface="Aptos"/>
              </a:rPr>
              <a:t>Parquet
Analytics warehouse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78824" y="1737360"/>
            <a:ext cx="2514600" cy="160020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79992" y="1938528"/>
            <a:ext cx="21031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F0B35B"/>
                </a:solidFill>
                <a:latin typeface="Consolas"/>
              </a:rPr>
              <a:t>ORCHESTRATION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2304288"/>
            <a:ext cx="2103120" cy="6400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300" b="1">
                <a:solidFill>
                  <a:srgbClr val="E7EDF3"/>
                </a:solidFill>
                <a:latin typeface="Aptos"/>
              </a:rPr>
              <a:t>Airflow
Pipeline reliability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703320"/>
            <a:ext cx="2514600" cy="160020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5528" y="3904487"/>
            <a:ext cx="21031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4F8CFF"/>
                </a:solidFill>
                <a:latin typeface="Consolas"/>
              </a:rPr>
              <a:t>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4270248"/>
            <a:ext cx="2103120" cy="6400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300" b="1">
                <a:solidFill>
                  <a:srgbClr val="E7EDF3"/>
                </a:solidFill>
                <a:latin typeface="Aptos"/>
              </a:rPr>
              <a:t>FastAPI
REST contracts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55848" y="3703320"/>
            <a:ext cx="2514600" cy="160020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557016" y="3904487"/>
            <a:ext cx="21031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FRONTEND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57016" y="4270248"/>
            <a:ext cx="2103120" cy="6400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300" b="1">
                <a:solidFill>
                  <a:srgbClr val="E7EDF3"/>
                </a:solidFill>
                <a:latin typeface="Aptos"/>
              </a:rPr>
              <a:t>React + Vite
Leaflet + Recharts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17336" y="3703320"/>
            <a:ext cx="2514600" cy="160020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18504" y="3904487"/>
            <a:ext cx="21031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F0B35B"/>
                </a:solidFill>
                <a:latin typeface="Consolas"/>
              </a:rPr>
              <a:t>ML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18504" y="4270248"/>
            <a:ext cx="2103120" cy="6400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300" b="1">
                <a:solidFill>
                  <a:srgbClr val="E7EDF3"/>
                </a:solidFill>
                <a:latin typeface="Aptos"/>
              </a:rPr>
              <a:t>Scikit-learn
Decision Tree + baseline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78824" y="3703320"/>
            <a:ext cx="2514600" cy="160020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79992" y="3904487"/>
            <a:ext cx="21031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8B9DB1"/>
                </a:solidFill>
                <a:latin typeface="Consolas"/>
              </a:rPr>
              <a:t>AI READY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79992" y="4270248"/>
            <a:ext cx="2103120" cy="6400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300" b="1">
                <a:solidFill>
                  <a:srgbClr val="E7EDF3"/>
                </a:solidFill>
                <a:latin typeface="Aptos"/>
              </a:rPr>
              <a:t>Claude / MCP
Next integration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5742432"/>
            <a:ext cx="10972800" cy="475488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" y="5861304"/>
            <a:ext cx="1051560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1000" b="1">
                <a:solidFill>
                  <a:srgbClr val="39D98A"/>
                </a:solidFill>
                <a:latin typeface="Aptos"/>
              </a:rPr>
              <a:t>Engineering principle: compute once upstream, expose through contracts, reuse downstream.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66928" y="6528816"/>
            <a:ext cx="11064240" cy="0"/>
          </a:xfrm>
          <a:prstGeom prst="line">
            <a:avLst/>
          </a:prstGeom>
          <a:ln w="8890">
            <a:solidFill>
              <a:srgbClr val="233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66928" y="6574536"/>
            <a:ext cx="5029200" cy="1463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670" b="1">
                <a:solidFill>
                  <a:srgbClr val="5C6D7E"/>
                </a:solidFill>
                <a:latin typeface="Consolas"/>
              </a:rPr>
              <a:t>NEXUS  /  TELECOM NETWORK ANALYTICS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457200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15 /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789920" cy="4754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700" b="1">
                <a:solidFill>
                  <a:srgbClr val="E7EDF3"/>
                </a:solidFill>
                <a:latin typeface="Aptos"/>
              </a:rPr>
              <a:t>The end-to-end story for a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61288"/>
            <a:ext cx="10789920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120" b="0">
                <a:solidFill>
                  <a:srgbClr val="8B9DB1"/>
                </a:solidFill>
                <a:latin typeface="Aptos"/>
              </a:rPr>
              <a:t>A concise path from network state to a prioritized operational 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800" b="1">
                <a:solidFill>
                  <a:srgbClr val="5C6D7E"/>
                </a:solidFill>
                <a:latin typeface="Consolas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37360"/>
            <a:ext cx="5257800" cy="987552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384048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2728" y="1883664"/>
            <a:ext cx="1005840" cy="1463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750" b="1">
                <a:solidFill>
                  <a:srgbClr val="39D98A"/>
                </a:solidFill>
                <a:latin typeface="Consolas"/>
              </a:rPr>
              <a:t>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2728" y="2121408"/>
            <a:ext cx="192024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150" b="1">
                <a:solidFill>
                  <a:srgbClr val="E7EDF3"/>
                </a:solidFill>
                <a:latin typeface="Aptos"/>
              </a:rPr>
              <a:t>Open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075688"/>
            <a:ext cx="2240280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919" b="0">
                <a:solidFill>
                  <a:srgbClr val="8B9DB1"/>
                </a:solidFill>
                <a:latin typeface="Aptos"/>
              </a:rPr>
              <a:t>What is happening now?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1737360"/>
            <a:ext cx="5257800" cy="987552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27648" y="1920240"/>
            <a:ext cx="384048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03136" y="1883664"/>
            <a:ext cx="1005840" cy="1463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750" b="1">
                <a:solidFill>
                  <a:srgbClr val="39D98A"/>
                </a:solidFill>
                <a:latin typeface="Consolas"/>
              </a:rPr>
              <a:t>LOCATE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03136" y="2121408"/>
            <a:ext cx="192024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150" b="1">
                <a:solidFill>
                  <a:srgbClr val="E7EDF3"/>
                </a:solidFill>
                <a:latin typeface="Aptos"/>
              </a:rPr>
              <a:t>Hotspots / Alerts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42248" y="2075688"/>
            <a:ext cx="2240280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919" b="0">
                <a:solidFill>
                  <a:srgbClr val="8B9DB1"/>
                </a:solidFill>
                <a:latin typeface="Aptos"/>
              </a:rPr>
              <a:t>Where should I look?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971800"/>
            <a:ext cx="5257800" cy="987552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3154680"/>
            <a:ext cx="384048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52728" y="3118104"/>
            <a:ext cx="1005840" cy="1463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750" b="1">
                <a:solidFill>
                  <a:srgbClr val="39D98A"/>
                </a:solidFill>
                <a:latin typeface="Consolas"/>
              </a:rPr>
              <a:t>DRILL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52728" y="3355848"/>
            <a:ext cx="192024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150" b="1">
                <a:solidFill>
                  <a:srgbClr val="E7EDF3"/>
                </a:solidFill>
                <a:latin typeface="Aptos"/>
              </a:rPr>
              <a:t>Grid Explorer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3310128"/>
            <a:ext cx="2240280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919" b="0">
                <a:solidFill>
                  <a:srgbClr val="8B9DB1"/>
                </a:solidFill>
                <a:latin typeface="Aptos"/>
              </a:rPr>
              <a:t>What does the grid show?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44768" y="2971800"/>
            <a:ext cx="5257800" cy="987552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27648" y="3154680"/>
            <a:ext cx="384048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03136" y="3118104"/>
            <a:ext cx="1005840" cy="1463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750" b="1">
                <a:solidFill>
                  <a:srgbClr val="39D98A"/>
                </a:solidFill>
                <a:latin typeface="Consolas"/>
              </a:rPr>
              <a:t>COMPARE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03136" y="3355848"/>
            <a:ext cx="192024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150" b="1">
                <a:solidFill>
                  <a:srgbClr val="E7EDF3"/>
                </a:solidFill>
                <a:latin typeface="Aptos"/>
              </a:rPr>
              <a:t>Historical / Compare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42248" y="3310128"/>
            <a:ext cx="2240280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919" b="0">
                <a:solidFill>
                  <a:srgbClr val="8B9DB1"/>
                </a:solidFill>
                <a:latin typeface="Aptos"/>
              </a:rPr>
              <a:t>Is this unusual or persistent?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4206240"/>
            <a:ext cx="5257800" cy="987552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4389120"/>
            <a:ext cx="384048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52728" y="4352544"/>
            <a:ext cx="1005840" cy="1463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750" b="1">
                <a:solidFill>
                  <a:srgbClr val="39D98A"/>
                </a:solidFill>
                <a:latin typeface="Consolas"/>
              </a:rPr>
              <a:t>PREDICT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52728" y="4590288"/>
            <a:ext cx="192024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150" b="1">
                <a:solidFill>
                  <a:srgbClr val="E7EDF3"/>
                </a:solidFill>
                <a:latin typeface="Aptos"/>
              </a:rPr>
              <a:t>Risk Intelligence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4544568"/>
            <a:ext cx="2240280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919" b="0">
                <a:solidFill>
                  <a:srgbClr val="8B9DB1"/>
                </a:solidFill>
                <a:latin typeface="Aptos"/>
              </a:rPr>
              <a:t>What may happen next?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44768" y="4206240"/>
            <a:ext cx="5257800" cy="987552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27648" y="4389120"/>
            <a:ext cx="384048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03136" y="4352544"/>
            <a:ext cx="1005840" cy="1463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750" b="1">
                <a:solidFill>
                  <a:srgbClr val="39D98A"/>
                </a:solidFill>
                <a:latin typeface="Consolas"/>
              </a:rPr>
              <a:t>TRUST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03136" y="4590288"/>
            <a:ext cx="192024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150" b="1">
                <a:solidFill>
                  <a:srgbClr val="E7EDF3"/>
                </a:solidFill>
                <a:latin typeface="Aptos"/>
              </a:rPr>
              <a:t>Pipeline Health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42248" y="4544568"/>
            <a:ext cx="2240280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919" b="0">
                <a:solidFill>
                  <a:srgbClr val="8B9DB1"/>
                </a:solidFill>
                <a:latin typeface="Aptos"/>
              </a:rPr>
              <a:t>Can I trust the evidence?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5440680"/>
            <a:ext cx="5257800" cy="987552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77240" y="5623560"/>
            <a:ext cx="384048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52728" y="5586984"/>
            <a:ext cx="1005840" cy="1463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750" b="1">
                <a:solidFill>
                  <a:srgbClr val="39D98A"/>
                </a:solidFill>
                <a:latin typeface="Consolas"/>
              </a:rPr>
              <a:t>ACT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52728" y="5824728"/>
            <a:ext cx="192024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150" b="1">
                <a:solidFill>
                  <a:srgbClr val="E7EDF3"/>
                </a:solidFill>
                <a:latin typeface="Aptos"/>
              </a:rPr>
              <a:t>Investigation brief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91840" y="5779008"/>
            <a:ext cx="2240280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919" b="0">
                <a:solidFill>
                  <a:srgbClr val="8B9DB1"/>
                </a:solidFill>
                <a:latin typeface="Aptos"/>
              </a:rPr>
              <a:t>What should I check next?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66928" y="6528816"/>
            <a:ext cx="11064240" cy="0"/>
          </a:xfrm>
          <a:prstGeom prst="line">
            <a:avLst/>
          </a:prstGeom>
          <a:ln w="8890">
            <a:solidFill>
              <a:srgbClr val="233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66928" y="6574536"/>
            <a:ext cx="5029200" cy="1463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670" b="1">
                <a:solidFill>
                  <a:srgbClr val="5C6D7E"/>
                </a:solidFill>
                <a:latin typeface="Consolas"/>
              </a:rPr>
              <a:t>NEXUS  /  TELECOM NETWORK ANALYTICS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457200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16 / NEXT 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789920" cy="4754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700" b="1">
                <a:solidFill>
                  <a:srgbClr val="E7EDF3"/>
                </a:solidFill>
                <a:latin typeface="Aptos"/>
              </a:rPr>
              <a:t>Claude as the NOC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61288"/>
            <a:ext cx="10789920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120" b="0">
                <a:solidFill>
                  <a:srgbClr val="8B9DB1"/>
                </a:solidFill>
                <a:latin typeface="Aptos"/>
              </a:rPr>
              <a:t>The remaining integration layer should reason over evidence, not replace the analytics platform.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800" b="1">
                <a:solidFill>
                  <a:srgbClr val="5C6D7E"/>
                </a:solidFill>
                <a:latin typeface="Consolas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37360"/>
            <a:ext cx="5074920" cy="425196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43891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4F8CFF"/>
                </a:solidFill>
                <a:latin typeface="Consolas"/>
              </a:rPr>
              <a:t>WHAT CLAUDE WILL RECEIVE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95728"/>
            <a:ext cx="438912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160" b="1">
                <a:solidFill>
                  <a:srgbClr val="4F8CFF"/>
                </a:solidFill>
                <a:latin typeface="Aptos"/>
              </a:rPr>
              <a:t>▸ </a:t>
            </a:r>
            <a:r>
              <a:rPr sz="1160">
                <a:solidFill>
                  <a:srgbClr val="E7EDF3"/>
                </a:solidFill>
                <a:latin typeface="Aptos"/>
              </a:rPr>
              <a:t>Selected alert and grid context</a:t>
            </a:r>
          </a:p>
          <a:p>
            <a:pPr>
              <a:spcAft>
                <a:spcPts val="900"/>
              </a:spcAft>
            </a:pPr>
            <a:r>
              <a:rPr sz="1160" b="1">
                <a:solidFill>
                  <a:srgbClr val="4F8CFF"/>
                </a:solidFill>
                <a:latin typeface="Aptos"/>
              </a:rPr>
              <a:t>▸ </a:t>
            </a:r>
            <a:r>
              <a:rPr sz="1160">
                <a:solidFill>
                  <a:srgbClr val="E7EDF3"/>
                </a:solidFill>
                <a:latin typeface="Aptos"/>
              </a:rPr>
              <a:t>Current activity + baseline</a:t>
            </a:r>
          </a:p>
          <a:p>
            <a:pPr>
              <a:spcAft>
                <a:spcPts val="900"/>
              </a:spcAft>
            </a:pPr>
            <a:r>
              <a:rPr sz="1160" b="1">
                <a:solidFill>
                  <a:srgbClr val="4F8CFF"/>
                </a:solidFill>
                <a:latin typeface="Aptos"/>
              </a:rPr>
              <a:t>▸ </a:t>
            </a:r>
            <a:r>
              <a:rPr sz="1160">
                <a:solidFill>
                  <a:srgbClr val="E7EDF3"/>
                </a:solidFill>
                <a:latin typeface="Aptos"/>
              </a:rPr>
              <a:t>Historical / comparison evidence</a:t>
            </a:r>
          </a:p>
          <a:p>
            <a:pPr>
              <a:spcAft>
                <a:spcPts val="900"/>
              </a:spcAft>
            </a:pPr>
            <a:r>
              <a:rPr sz="1160" b="1">
                <a:solidFill>
                  <a:srgbClr val="4F8CFF"/>
                </a:solidFill>
                <a:latin typeface="Aptos"/>
              </a:rPr>
              <a:t>▸ </a:t>
            </a:r>
            <a:r>
              <a:rPr sz="1160">
                <a:solidFill>
                  <a:srgbClr val="E7EDF3"/>
                </a:solidFill>
                <a:latin typeface="Aptos"/>
              </a:rPr>
              <a:t>Predictive risk result + model version</a:t>
            </a:r>
          </a:p>
          <a:p>
            <a:pPr>
              <a:spcAft>
                <a:spcPts val="900"/>
              </a:spcAft>
            </a:pPr>
            <a:r>
              <a:rPr sz="1160" b="1">
                <a:solidFill>
                  <a:srgbClr val="4F8CFF"/>
                </a:solidFill>
                <a:latin typeface="Aptos"/>
              </a:rPr>
              <a:t>▸ </a:t>
            </a:r>
            <a:r>
              <a:rPr sz="1160">
                <a:solidFill>
                  <a:srgbClr val="E7EDF3"/>
                </a:solidFill>
                <a:latin typeface="Aptos"/>
              </a:rPr>
              <a:t>Pipeline / data health state</a:t>
            </a:r>
          </a:p>
          <a:p>
            <a:pPr>
              <a:spcAft>
                <a:spcPts val="900"/>
              </a:spcAft>
            </a:pPr>
            <a:r>
              <a:rPr sz="1160" b="1">
                <a:solidFill>
                  <a:srgbClr val="4F8CFF"/>
                </a:solidFill>
                <a:latin typeface="Aptos"/>
              </a:rPr>
              <a:t>▸ </a:t>
            </a:r>
            <a:r>
              <a:rPr sz="1160">
                <a:solidFill>
                  <a:srgbClr val="E7EDF3"/>
                </a:solidFill>
                <a:latin typeface="Aptos"/>
              </a:rPr>
              <a:t>Relevant tool and MCP outputs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737360"/>
            <a:ext cx="5577840" cy="425196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63640" y="2011680"/>
            <a:ext cx="48463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EXAMPLE NOC QUESTIONS</a:t>
            </a:r>
          </a:p>
        </p:txBody>
      </p:sp>
      <p:sp>
        <p:nvSpPr>
          <p:cNvPr id="11" name="Oval 10"/>
          <p:cNvSpPr/>
          <p:nvPr/>
        </p:nvSpPr>
        <p:spPr>
          <a:xfrm>
            <a:off x="6309360" y="2432304"/>
            <a:ext cx="91440" cy="91440"/>
          </a:xfrm>
          <a:prstGeom prst="ellipse">
            <a:avLst/>
          </a:prstGeom>
          <a:solidFill>
            <a:srgbClr val="39D98A"/>
          </a:solidFill>
          <a:ln>
            <a:solidFill>
              <a:srgbClr val="39D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2395728"/>
            <a:ext cx="452628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120" b="1">
                <a:solidFill>
                  <a:srgbClr val="E7EDF3"/>
                </a:solidFill>
                <a:latin typeface="Aptos"/>
              </a:rPr>
              <a:t>“Explain this alert.”</a:t>
            </a:r>
          </a:p>
        </p:txBody>
      </p:sp>
      <p:sp>
        <p:nvSpPr>
          <p:cNvPr id="13" name="Oval 12"/>
          <p:cNvSpPr/>
          <p:nvPr/>
        </p:nvSpPr>
        <p:spPr>
          <a:xfrm>
            <a:off x="6309360" y="2935224"/>
            <a:ext cx="91440" cy="91440"/>
          </a:xfrm>
          <a:prstGeom prst="ellipse">
            <a:avLst/>
          </a:prstGeom>
          <a:solidFill>
            <a:srgbClr val="39D98A"/>
          </a:solidFill>
          <a:ln>
            <a:solidFill>
              <a:srgbClr val="39D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2898648"/>
            <a:ext cx="452628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120" b="1">
                <a:solidFill>
                  <a:srgbClr val="E7EDF3"/>
                </a:solidFill>
                <a:latin typeface="Aptos"/>
              </a:rPr>
              <a:t>“Why should I investigate this grid?”</a:t>
            </a:r>
          </a:p>
        </p:txBody>
      </p:sp>
      <p:sp>
        <p:nvSpPr>
          <p:cNvPr id="15" name="Oval 14"/>
          <p:cNvSpPr/>
          <p:nvPr/>
        </p:nvSpPr>
        <p:spPr>
          <a:xfrm>
            <a:off x="6309360" y="3438144"/>
            <a:ext cx="91440" cy="91440"/>
          </a:xfrm>
          <a:prstGeom prst="ellipse">
            <a:avLst/>
          </a:prstGeom>
          <a:solidFill>
            <a:srgbClr val="39D98A"/>
          </a:solidFill>
          <a:ln>
            <a:solidFill>
              <a:srgbClr val="39D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37960" y="3401568"/>
            <a:ext cx="452628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120" b="1">
                <a:solidFill>
                  <a:srgbClr val="E7EDF3"/>
                </a:solidFill>
                <a:latin typeface="Aptos"/>
              </a:rPr>
              <a:t>“Is this condition persistent?”</a:t>
            </a:r>
          </a:p>
        </p:txBody>
      </p:sp>
      <p:sp>
        <p:nvSpPr>
          <p:cNvPr id="17" name="Oval 16"/>
          <p:cNvSpPr/>
          <p:nvPr/>
        </p:nvSpPr>
        <p:spPr>
          <a:xfrm>
            <a:off x="6309360" y="3941063"/>
            <a:ext cx="91440" cy="91440"/>
          </a:xfrm>
          <a:prstGeom prst="ellipse">
            <a:avLst/>
          </a:prstGeom>
          <a:solidFill>
            <a:srgbClr val="39D98A"/>
          </a:solidFill>
          <a:ln>
            <a:solidFill>
              <a:srgbClr val="39D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3904487"/>
            <a:ext cx="452628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120" b="1">
                <a:solidFill>
                  <a:srgbClr val="E7EDF3"/>
                </a:solidFill>
                <a:latin typeface="Aptos"/>
              </a:rPr>
              <a:t>“Compare this grid with another grid.”</a:t>
            </a:r>
          </a:p>
        </p:txBody>
      </p:sp>
      <p:sp>
        <p:nvSpPr>
          <p:cNvPr id="19" name="Oval 18"/>
          <p:cNvSpPr/>
          <p:nvPr/>
        </p:nvSpPr>
        <p:spPr>
          <a:xfrm>
            <a:off x="6309360" y="4443983"/>
            <a:ext cx="91440" cy="91440"/>
          </a:xfrm>
          <a:prstGeom prst="ellipse">
            <a:avLst/>
          </a:prstGeom>
          <a:solidFill>
            <a:srgbClr val="39D98A"/>
          </a:solidFill>
          <a:ln>
            <a:solidFill>
              <a:srgbClr val="39D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37960" y="4407407"/>
            <a:ext cx="452628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120" b="1">
                <a:solidFill>
                  <a:srgbClr val="E7EDF3"/>
                </a:solidFill>
                <a:latin typeface="Aptos"/>
              </a:rPr>
              <a:t>“What evidence supports the risk signal?”</a:t>
            </a:r>
          </a:p>
        </p:txBody>
      </p:sp>
      <p:sp>
        <p:nvSpPr>
          <p:cNvPr id="21" name="Oval 20"/>
          <p:cNvSpPr/>
          <p:nvPr/>
        </p:nvSpPr>
        <p:spPr>
          <a:xfrm>
            <a:off x="6309360" y="4946903"/>
            <a:ext cx="91440" cy="91440"/>
          </a:xfrm>
          <a:prstGeom prst="ellipse">
            <a:avLst/>
          </a:prstGeom>
          <a:solidFill>
            <a:srgbClr val="39D98A"/>
          </a:solidFill>
          <a:ln>
            <a:solidFill>
              <a:srgbClr val="39D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37960" y="4910327"/>
            <a:ext cx="452628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120" b="1">
                <a:solidFill>
                  <a:srgbClr val="E7EDF3"/>
                </a:solidFill>
                <a:latin typeface="Aptos"/>
              </a:rPr>
              <a:t>“What should I check next?”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5440680"/>
            <a:ext cx="484632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919" b="1">
                <a:solidFill>
                  <a:srgbClr val="8B9DB1"/>
                </a:solidFill>
                <a:latin typeface="Aptos"/>
              </a:rPr>
              <a:t>Guardrail: Claude must state uncertainty and surface data-quality issues.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66928" y="6528816"/>
            <a:ext cx="11064240" cy="0"/>
          </a:xfrm>
          <a:prstGeom prst="line">
            <a:avLst/>
          </a:prstGeom>
          <a:ln w="8890">
            <a:solidFill>
              <a:srgbClr val="233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66928" y="6574536"/>
            <a:ext cx="5029200" cy="1463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670" b="1">
                <a:solidFill>
                  <a:srgbClr val="5C6D7E"/>
                </a:solidFill>
                <a:latin typeface="Consolas"/>
              </a:rPr>
              <a:t>NEXUS  /  TELECOM NETWORK ANALYTICS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457200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17 / 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789920" cy="4754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700" b="1">
                <a:solidFill>
                  <a:srgbClr val="E7EDF3"/>
                </a:solidFill>
                <a:latin typeface="Aptos"/>
              </a:rPr>
              <a:t>What has been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61288"/>
            <a:ext cx="10789920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120" b="0">
                <a:solidFill>
                  <a:srgbClr val="8B9DB1"/>
                </a:solidFill>
                <a:latin typeface="Aptos"/>
              </a:rPr>
              <a:t>A working telecom analytics platform with an operational UI and a clear path to evidence-grounded AI.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800" b="1">
                <a:solidFill>
                  <a:srgbClr val="5C6D7E"/>
                </a:solidFill>
                <a:latin typeface="Consolas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37360"/>
            <a:ext cx="6583680" cy="416052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57607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DELIVERED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40"/>
            <a:ext cx="571500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130" b="1">
                <a:solidFill>
                  <a:srgbClr val="39D98A"/>
                </a:solidFill>
                <a:latin typeface="Aptos"/>
              </a:rPr>
              <a:t>▸ </a:t>
            </a:r>
            <a:r>
              <a:rPr sz="1130">
                <a:solidFill>
                  <a:srgbClr val="E7EDF3"/>
                </a:solidFill>
                <a:latin typeface="Aptos"/>
              </a:rPr>
              <a:t>End-to-end data engineering pipeline</a:t>
            </a:r>
          </a:p>
          <a:p>
            <a:pPr>
              <a:spcAft>
                <a:spcPts val="700"/>
              </a:spcAft>
            </a:pPr>
            <a:r>
              <a:rPr sz="1130" b="1">
                <a:solidFill>
                  <a:srgbClr val="39D98A"/>
                </a:solidFill>
                <a:latin typeface="Aptos"/>
              </a:rPr>
              <a:t>▸ </a:t>
            </a:r>
            <a:r>
              <a:rPr sz="1130">
                <a:solidFill>
                  <a:srgbClr val="E7EDF3"/>
                </a:solidFill>
                <a:latin typeface="Aptos"/>
              </a:rPr>
              <a:t>PySpark processing and Milan spatial enrichment</a:t>
            </a:r>
          </a:p>
          <a:p>
            <a:pPr>
              <a:spcAft>
                <a:spcPts val="700"/>
              </a:spcAft>
            </a:pPr>
            <a:r>
              <a:rPr sz="1130" b="1">
                <a:solidFill>
                  <a:srgbClr val="39D98A"/>
                </a:solidFill>
                <a:latin typeface="Aptos"/>
              </a:rPr>
              <a:t>▸ </a:t>
            </a:r>
            <a:r>
              <a:rPr sz="1130">
                <a:solidFill>
                  <a:srgbClr val="E7EDF3"/>
                </a:solidFill>
                <a:latin typeface="Aptos"/>
              </a:rPr>
              <a:t>Analytics warehouse and reusable service contracts</a:t>
            </a:r>
          </a:p>
          <a:p>
            <a:pPr>
              <a:spcAft>
                <a:spcPts val="700"/>
              </a:spcAft>
            </a:pPr>
            <a:r>
              <a:rPr sz="1130" b="1">
                <a:solidFill>
                  <a:srgbClr val="39D98A"/>
                </a:solidFill>
                <a:latin typeface="Aptos"/>
              </a:rPr>
              <a:t>▸ </a:t>
            </a:r>
            <a:r>
              <a:rPr sz="1130">
                <a:solidFill>
                  <a:srgbClr val="E7EDF3"/>
                </a:solidFill>
                <a:latin typeface="Aptos"/>
              </a:rPr>
              <a:t>FastAPI network, feature, prediction and operational endpoints</a:t>
            </a:r>
          </a:p>
          <a:p>
            <a:pPr>
              <a:spcAft>
                <a:spcPts val="700"/>
              </a:spcAft>
            </a:pPr>
            <a:r>
              <a:rPr sz="1130" b="1">
                <a:solidFill>
                  <a:srgbClr val="39D98A"/>
                </a:solidFill>
                <a:latin typeface="Aptos"/>
              </a:rPr>
              <a:t>▸ </a:t>
            </a:r>
            <a:r>
              <a:rPr sz="1130">
                <a:solidFill>
                  <a:srgbClr val="E7EDF3"/>
                </a:solidFill>
                <a:latin typeface="Aptos"/>
              </a:rPr>
              <a:t>Professional React NOC dashboard</a:t>
            </a:r>
          </a:p>
          <a:p>
            <a:pPr>
              <a:spcAft>
                <a:spcPts val="700"/>
              </a:spcAft>
            </a:pPr>
            <a:r>
              <a:rPr sz="1130" b="1">
                <a:solidFill>
                  <a:srgbClr val="39D98A"/>
                </a:solidFill>
                <a:latin typeface="Aptos"/>
              </a:rPr>
              <a:t>▸ </a:t>
            </a:r>
            <a:r>
              <a:rPr sz="1130">
                <a:solidFill>
                  <a:srgbClr val="E7EDF3"/>
                </a:solidFill>
                <a:latin typeface="Aptos"/>
              </a:rPr>
              <a:t>Hotspot / alert spatial operations</a:t>
            </a:r>
          </a:p>
          <a:p>
            <a:pPr>
              <a:spcAft>
                <a:spcPts val="700"/>
              </a:spcAft>
            </a:pPr>
            <a:r>
              <a:rPr sz="1130" b="1">
                <a:solidFill>
                  <a:srgbClr val="39D98A"/>
                </a:solidFill>
                <a:latin typeface="Aptos"/>
              </a:rPr>
              <a:t>▸ </a:t>
            </a:r>
            <a:r>
              <a:rPr sz="1130">
                <a:solidFill>
                  <a:srgbClr val="E7EDF3"/>
                </a:solidFill>
                <a:latin typeface="Aptos"/>
              </a:rPr>
              <a:t>ML-based predictive risk + anomaly intelligence</a:t>
            </a:r>
          </a:p>
          <a:p>
            <a:pPr>
              <a:spcAft>
                <a:spcPts val="700"/>
              </a:spcAft>
            </a:pPr>
            <a:r>
              <a:rPr sz="1130" b="1">
                <a:solidFill>
                  <a:srgbClr val="39D98A"/>
                </a:solidFill>
                <a:latin typeface="Aptos"/>
              </a:rPr>
              <a:t>▸ </a:t>
            </a:r>
            <a:r>
              <a:rPr sz="1130">
                <a:solidFill>
                  <a:srgbClr val="E7EDF3"/>
                </a:solidFill>
                <a:latin typeface="Aptos"/>
              </a:rPr>
              <a:t>Historical, comparison and investigation workflows</a:t>
            </a:r>
          </a:p>
          <a:p>
            <a:pPr>
              <a:spcAft>
                <a:spcPts val="700"/>
              </a:spcAft>
            </a:pPr>
            <a:r>
              <a:rPr sz="1130" b="1">
                <a:solidFill>
                  <a:srgbClr val="39D98A"/>
                </a:solidFill>
                <a:latin typeface="Aptos"/>
              </a:rPr>
              <a:t>▸ </a:t>
            </a:r>
            <a:r>
              <a:rPr sz="1130">
                <a:solidFill>
                  <a:srgbClr val="E7EDF3"/>
                </a:solidFill>
                <a:latin typeface="Aptos"/>
              </a:rPr>
              <a:t>Pipeline/data operations visibility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1737360"/>
            <a:ext cx="4114800" cy="416052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26679" y="2011680"/>
            <a:ext cx="34747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4F8CFF"/>
                </a:solidFill>
                <a:latin typeface="Consolas"/>
              </a:rPr>
              <a:t>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2450592"/>
            <a:ext cx="3200400" cy="6583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100" b="1">
                <a:solidFill>
                  <a:srgbClr val="E7EDF3"/>
                </a:solidFill>
                <a:latin typeface="Aptos"/>
              </a:rPr>
              <a:t>Claude-powered
NOC investigation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3337560"/>
            <a:ext cx="3154680" cy="7315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120" b="0">
                <a:solidFill>
                  <a:srgbClr val="8B9DB1"/>
                </a:solidFill>
                <a:latin typeface="Aptos"/>
              </a:rPr>
              <a:t>Evidence-grounded reasoning across alerts, grids, risk and pipeline health.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4590288"/>
            <a:ext cx="713232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26679" y="4626864"/>
            <a:ext cx="713232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730" b="1">
                <a:solidFill>
                  <a:srgbClr val="4F8CFF"/>
                </a:solidFill>
                <a:latin typeface="Consolas"/>
              </a:rPr>
              <a:t>TOOLS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49640" y="4590288"/>
            <a:ext cx="713232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49640" y="4626864"/>
            <a:ext cx="713232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730" b="1">
                <a:solidFill>
                  <a:srgbClr val="4F8CFF"/>
                </a:solidFill>
                <a:latin typeface="Consolas"/>
              </a:rPr>
              <a:t>MCP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4590288"/>
            <a:ext cx="804672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72600" y="4626864"/>
            <a:ext cx="804672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730" b="1">
                <a:solidFill>
                  <a:srgbClr val="39D98A"/>
                </a:solidFill>
                <a:latin typeface="Consolas"/>
              </a:rPr>
              <a:t>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74920"/>
            <a:ext cx="3154680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950" b="1">
                <a:solidFill>
                  <a:srgbClr val="E7EDF3"/>
                </a:solidFill>
                <a:latin typeface="Aptos"/>
              </a:rPr>
              <a:t>Goal: faster investigation with the same evidence and safety boundaries.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66928" y="6528816"/>
            <a:ext cx="11064240" cy="0"/>
          </a:xfrm>
          <a:prstGeom prst="line">
            <a:avLst/>
          </a:prstGeom>
          <a:ln w="8890">
            <a:solidFill>
              <a:srgbClr val="233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66928" y="6574536"/>
            <a:ext cx="5029200" cy="1463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670" b="1">
                <a:solidFill>
                  <a:srgbClr val="5C6D7E"/>
                </a:solidFill>
                <a:latin typeface="Consolas"/>
              </a:rPr>
              <a:t>NEXUS  /  TELECOM NETWORK ANALYTICS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457200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APPENDIX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789920" cy="4754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700" b="1">
                <a:solidFill>
                  <a:srgbClr val="E7EDF3"/>
                </a:solidFill>
                <a:latin typeface="Aptos"/>
              </a:rPr>
              <a:t>Representative API contracts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61288"/>
            <a:ext cx="10789920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120" b="0">
                <a:solidFill>
                  <a:srgbClr val="8B9DB1"/>
                </a:solidFill>
                <a:latin typeface="Aptos"/>
              </a:rPr>
              <a:t>Useful for the technical discussion.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800" b="1">
                <a:solidFill>
                  <a:srgbClr val="5C6D7E"/>
                </a:solidFill>
                <a:latin typeface="Consolas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91640"/>
            <a:ext cx="10972800" cy="786384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338328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000" b="1">
                <a:solidFill>
                  <a:srgbClr val="39D98A"/>
                </a:solidFill>
                <a:latin typeface="Consolas"/>
              </a:rPr>
              <a:t>/network/summary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1920240"/>
            <a:ext cx="658368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000" b="0">
                <a:solidFill>
                  <a:srgbClr val="8B9DB1"/>
                </a:solidFill>
                <a:latin typeface="Aptos"/>
              </a:rPr>
              <a:t>summary KPIs + as_of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587752"/>
            <a:ext cx="10972800" cy="786384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816352"/>
            <a:ext cx="338328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000" b="1">
                <a:solidFill>
                  <a:srgbClr val="4F8CFF"/>
                </a:solidFill>
                <a:latin typeface="Consolas"/>
              </a:rPr>
              <a:t>/network/grid/{id}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2816352"/>
            <a:ext cx="658368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000" b="0">
                <a:solidFill>
                  <a:srgbClr val="8B9DB1"/>
                </a:solidFill>
                <a:latin typeface="Aptos"/>
              </a:rPr>
              <a:t>hourly activity + reporting period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483864"/>
            <a:ext cx="10972800" cy="786384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3712464"/>
            <a:ext cx="338328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000" b="1">
                <a:solidFill>
                  <a:srgbClr val="FF6B72"/>
                </a:solidFill>
                <a:latin typeface="Consolas"/>
              </a:rPr>
              <a:t>/network/alerts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3712464"/>
            <a:ext cx="658368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000" b="0">
                <a:solidFill>
                  <a:srgbClr val="8B9DB1"/>
                </a:solidFill>
                <a:latin typeface="Aptos"/>
              </a:rPr>
              <a:t>alert records + severity + reason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379976"/>
            <a:ext cx="10972800" cy="786384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4608576"/>
            <a:ext cx="338328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000" b="1">
                <a:solidFill>
                  <a:srgbClr val="F0B35B"/>
                </a:solidFill>
                <a:latin typeface="Consolas"/>
              </a:rPr>
              <a:t>/network/predict-risk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4608576"/>
            <a:ext cx="658368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000" b="0">
                <a:solidFill>
                  <a:srgbClr val="8B9DB1"/>
                </a:solidFill>
                <a:latin typeface="Aptos"/>
              </a:rPr>
              <a:t>risk_score + risk_level + model_version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5276088"/>
            <a:ext cx="10972800" cy="786384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5504688"/>
            <a:ext cx="338328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000" b="1">
                <a:solidFill>
                  <a:srgbClr val="39D98A"/>
                </a:solidFill>
                <a:latin typeface="Consolas"/>
              </a:rPr>
              <a:t>/pipeline/status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5504688"/>
            <a:ext cx="658368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000" b="0">
                <a:solidFill>
                  <a:srgbClr val="8B9DB1"/>
                </a:solidFill>
                <a:latin typeface="Aptos"/>
              </a:rPr>
              <a:t>data/pipeline operational state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66928" y="6528816"/>
            <a:ext cx="11064240" cy="0"/>
          </a:xfrm>
          <a:prstGeom prst="line">
            <a:avLst/>
          </a:prstGeom>
          <a:ln w="8890">
            <a:solidFill>
              <a:srgbClr val="233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66928" y="6574536"/>
            <a:ext cx="5029200" cy="1463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670" b="1">
                <a:solidFill>
                  <a:srgbClr val="5C6D7E"/>
                </a:solidFill>
                <a:latin typeface="Consolas"/>
              </a:rPr>
              <a:t>NEXUS  /  TELECOM NETWORK ANALYTICS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47472"/>
            <a:ext cx="457200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APPENDIX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9666"/>
            <a:ext cx="10789920" cy="47548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2700" b="1">
                <a:solidFill>
                  <a:srgbClr val="E7EDF3"/>
                </a:solidFill>
                <a:latin typeface="Aptos"/>
              </a:rPr>
              <a:t>ML design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61288"/>
            <a:ext cx="10789920" cy="34747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120" b="0">
                <a:solidFill>
                  <a:srgbClr val="8B9DB1"/>
                </a:solidFill>
                <a:latin typeface="Aptos"/>
              </a:rPr>
              <a:t>Simple, explainable features with a future-window target and time-aware validation.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/>
            <a:r>
              <a:rPr sz="800" b="1">
                <a:solidFill>
                  <a:srgbClr val="5C6D7E"/>
                </a:solidFill>
                <a:latin typeface="Consolas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91640"/>
            <a:ext cx="5303520" cy="438912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457200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F0B35B"/>
                </a:solidFill>
                <a:latin typeface="Consolas"/>
              </a:rPr>
              <a:t>FEATURES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359152"/>
            <a:ext cx="1783080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395728"/>
            <a:ext cx="178308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730" b="1">
                <a:solidFill>
                  <a:srgbClr val="8B9DB1"/>
                </a:solidFill>
                <a:latin typeface="Consolas"/>
              </a:rPr>
              <a:t>avg_activity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752344"/>
            <a:ext cx="1783080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788920"/>
            <a:ext cx="178308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730" b="1">
                <a:solidFill>
                  <a:srgbClr val="8B9DB1"/>
                </a:solidFill>
                <a:latin typeface="Consolas"/>
              </a:rPr>
              <a:t>activity_growth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145536"/>
            <a:ext cx="1783080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3182112"/>
            <a:ext cx="178308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730" b="1">
                <a:solidFill>
                  <a:srgbClr val="8B9DB1"/>
                </a:solidFill>
                <a:latin typeface="Consolas"/>
              </a:rPr>
              <a:t>peak_ratio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538728"/>
            <a:ext cx="1783080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3575304"/>
            <a:ext cx="178308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730" b="1">
                <a:solidFill>
                  <a:srgbClr val="8B9DB1"/>
                </a:solidFill>
                <a:latin typeface="Consolas"/>
              </a:rPr>
              <a:t>variability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931920"/>
            <a:ext cx="1783080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3968496"/>
            <a:ext cx="178308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730" b="1">
                <a:solidFill>
                  <a:srgbClr val="8B9DB1"/>
                </a:solidFill>
                <a:latin typeface="Consolas"/>
              </a:rPr>
              <a:t>internet_share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325112"/>
            <a:ext cx="1783080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4361688"/>
            <a:ext cx="178308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730" b="1">
                <a:solidFill>
                  <a:srgbClr val="8B9DB1"/>
                </a:solidFill>
                <a:latin typeface="Consolas"/>
              </a:rPr>
              <a:t>trailing_median_24h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718304"/>
            <a:ext cx="1783080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4754880"/>
            <a:ext cx="178308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730" b="1">
                <a:solidFill>
                  <a:srgbClr val="8B9DB1"/>
                </a:solidFill>
                <a:latin typeface="Consolas"/>
              </a:rPr>
              <a:t>hour_of_day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5111496"/>
            <a:ext cx="1783080" cy="274320"/>
          </a:xfrm>
          <a:prstGeom prst="roundRect">
            <a:avLst/>
          </a:prstGeom>
          <a:solidFill>
            <a:srgbClr val="101922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5148072"/>
            <a:ext cx="178308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730" b="1">
                <a:solidFill>
                  <a:srgbClr val="8B9DB1"/>
                </a:solidFill>
                <a:latin typeface="Consolas"/>
              </a:rPr>
              <a:t>day_of_week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1691640"/>
            <a:ext cx="5394960" cy="4389120"/>
          </a:xfrm>
          <a:prstGeom prst="roundRect">
            <a:avLst/>
          </a:prstGeom>
          <a:solidFill>
            <a:srgbClr val="0D151D"/>
          </a:solidFill>
          <a:ln w="10160">
            <a:solidFill>
              <a:srgbClr val="233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46520" y="1965960"/>
            <a:ext cx="466344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00" b="1">
                <a:solidFill>
                  <a:srgbClr val="39D98A"/>
                </a:solidFill>
                <a:latin typeface="Consolas"/>
              </a:rPr>
              <a:t>OPERATIONAL GUARDRAILS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2359152"/>
            <a:ext cx="4617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120" b="1">
                <a:solidFill>
                  <a:srgbClr val="39D98A"/>
                </a:solidFill>
                <a:latin typeface="Aptos"/>
              </a:rPr>
              <a:t>▸ </a:t>
            </a:r>
            <a:r>
              <a:rPr sz="1120">
                <a:solidFill>
                  <a:srgbClr val="E7EDF3"/>
                </a:solidFill>
                <a:latin typeface="Aptos"/>
              </a:rPr>
              <a:t>Features describe history through time t.</a:t>
            </a:r>
          </a:p>
          <a:p>
            <a:pPr>
              <a:spcAft>
                <a:spcPts val="700"/>
              </a:spcAft>
            </a:pPr>
            <a:r>
              <a:rPr sz="1120" b="1">
                <a:solidFill>
                  <a:srgbClr val="39D98A"/>
                </a:solidFill>
                <a:latin typeface="Aptos"/>
              </a:rPr>
              <a:t>▸ </a:t>
            </a:r>
            <a:r>
              <a:rPr sz="1120">
                <a:solidFill>
                  <a:srgbClr val="E7EDF3"/>
                </a:solidFill>
                <a:latin typeface="Aptos"/>
              </a:rPr>
              <a:t>The target represents the next hourly interval.</a:t>
            </a:r>
          </a:p>
          <a:p>
            <a:pPr>
              <a:spcAft>
                <a:spcPts val="700"/>
              </a:spcAft>
            </a:pPr>
            <a:r>
              <a:rPr sz="1120" b="1">
                <a:solidFill>
                  <a:srgbClr val="39D98A"/>
                </a:solidFill>
                <a:latin typeface="Aptos"/>
              </a:rPr>
              <a:t>▸ </a:t>
            </a:r>
            <a:r>
              <a:rPr sz="1120">
                <a:solidFill>
                  <a:srgbClr val="E7EDF3"/>
                </a:solidFill>
                <a:latin typeface="Aptos"/>
              </a:rPr>
              <a:t>Chronological train/test split avoids temporal leakage.</a:t>
            </a:r>
          </a:p>
          <a:p>
            <a:pPr>
              <a:spcAft>
                <a:spcPts val="700"/>
              </a:spcAft>
            </a:pPr>
            <a:r>
              <a:rPr sz="1120" b="1">
                <a:solidFill>
                  <a:srgbClr val="39D98A"/>
                </a:solidFill>
                <a:latin typeface="Aptos"/>
              </a:rPr>
              <a:t>▸ </a:t>
            </a:r>
            <a:r>
              <a:rPr sz="1120">
                <a:solidFill>
                  <a:srgbClr val="E7EDF3"/>
                </a:solidFill>
                <a:latin typeface="Aptos"/>
              </a:rPr>
              <a:t>Base rate is reported alongside accuracy.</a:t>
            </a:r>
          </a:p>
          <a:p>
            <a:pPr>
              <a:spcAft>
                <a:spcPts val="700"/>
              </a:spcAft>
            </a:pPr>
            <a:r>
              <a:rPr sz="1120" b="1">
                <a:solidFill>
                  <a:srgbClr val="39D98A"/>
                </a:solidFill>
                <a:latin typeface="Aptos"/>
              </a:rPr>
              <a:t>▸ </a:t>
            </a:r>
            <a:r>
              <a:rPr sz="1120">
                <a:solidFill>
                  <a:srgbClr val="E7EDF3"/>
                </a:solidFill>
                <a:latin typeface="Aptos"/>
              </a:rPr>
              <a:t>Precision and recall are interpreted operationally.</a:t>
            </a:r>
          </a:p>
          <a:p>
            <a:pPr>
              <a:spcAft>
                <a:spcPts val="700"/>
              </a:spcAft>
            </a:pPr>
            <a:r>
              <a:rPr sz="1120" b="1">
                <a:solidFill>
                  <a:srgbClr val="39D98A"/>
                </a:solidFill>
                <a:latin typeface="Aptos"/>
              </a:rPr>
              <a:t>▸ </a:t>
            </a:r>
            <a:r>
              <a:rPr sz="1120">
                <a:solidFill>
                  <a:srgbClr val="E7EDF3"/>
                </a:solidFill>
                <a:latin typeface="Aptos"/>
              </a:rPr>
              <a:t>Model output is kept separate from narrative reasoning.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66928" y="6528816"/>
            <a:ext cx="11064240" cy="0"/>
          </a:xfrm>
          <a:prstGeom prst="line">
            <a:avLst/>
          </a:prstGeom>
          <a:ln w="8890">
            <a:solidFill>
              <a:srgbClr val="233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66928" y="6574536"/>
            <a:ext cx="5029200" cy="14630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670" b="1">
                <a:solidFill>
                  <a:srgbClr val="5C6D7E"/>
                </a:solidFill>
                <a:latin typeface="Consolas"/>
              </a:rPr>
              <a:t>NEXUS  /  TELECOM NETWORK 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Dark gradient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Dark gradien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6C0E157E-BBF9-45FB-91B2-9EEA263F6260}" vid="{4AA688F4-4384-4824-9BC0-914EFB7BEE9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Dark gradient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246</cp:revision>
  <dcterms:created xsi:type="dcterms:W3CDTF">2013-01-27T09:14:16Z</dcterms:created>
  <dcterms:modified xsi:type="dcterms:W3CDTF">2026-09-14T11:45:50Z</dcterms:modified>
  <cp:category/>
</cp:coreProperties>
</file>